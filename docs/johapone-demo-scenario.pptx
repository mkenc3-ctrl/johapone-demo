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B737BF-B24B-415C-BCE7-2D3CDB5A2850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36E7D0-5797-424A-97B8-DED0EB48B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6369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시연은 약 </a:t>
            </a:r>
            <a:r>
              <a:rPr lang="en-US" altLang="ko-KR"/>
              <a:t>10</a:t>
            </a:r>
            <a:r>
              <a:rPr lang="ko-KR" altLang="en-US"/>
              <a:t>분</a:t>
            </a:r>
            <a:r>
              <a:rPr lang="en-US" altLang="ko-KR"/>
              <a:t>. </a:t>
            </a:r>
            <a:r>
              <a:rPr lang="ko-KR" altLang="en-US"/>
              <a:t>공무원 화면 </a:t>
            </a:r>
            <a:r>
              <a:rPr lang="en-US" altLang="ko-KR"/>
              <a:t>4</a:t>
            </a:r>
            <a:r>
              <a:rPr lang="ko-KR" altLang="en-US"/>
              <a:t>단계 → 조합장 화면 </a:t>
            </a:r>
            <a:r>
              <a:rPr lang="en-US" altLang="ko-KR"/>
              <a:t>5</a:t>
            </a:r>
            <a:r>
              <a:rPr lang="ko-KR" altLang="en-US"/>
              <a:t>단계 → 조합원 휴대폰 </a:t>
            </a:r>
            <a:r>
              <a:rPr lang="en-US" altLang="ko-KR"/>
              <a:t>3</a:t>
            </a:r>
            <a:r>
              <a:rPr lang="ko-KR" altLang="en-US"/>
              <a:t>단계 → 비용 절감 정리 순서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36E7D0-5797-424A-97B8-DED0EB48B63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1169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시연 전용 조합은 테스트용 조합과 분리되어 있어 내부 테스트 데이터와 섞이지 않습니다</a:t>
            </a:r>
            <a:r>
              <a:rPr lang="en-US" altLang="ko-KR"/>
              <a:t>. </a:t>
            </a:r>
            <a:r>
              <a:rPr lang="ko-KR" altLang="en-US"/>
              <a:t>시연 직전 초기화 버튼만 누르면 항상 같은 화면으로 시작합니다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36E7D0-5797-424A-97B8-DED0EB48B63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6691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조합</a:t>
            </a:r>
            <a:r>
              <a:rPr lang="en-US" altLang="ko-KR"/>
              <a:t>ONE</a:t>
            </a:r>
            <a:r>
              <a:rPr lang="ko-KR" altLang="en-US"/>
              <a:t>을 쓰는 관할 조합 현황이 실시간으로 모입니다</a:t>
            </a:r>
            <a:r>
              <a:rPr lang="en-US" altLang="ko-KR"/>
              <a:t>.</a:t>
            </a:r>
          </a:p>
          <a:p>
            <a:r>
              <a:rPr lang="en-US" altLang="ko-KR"/>
              <a:t>• </a:t>
            </a:r>
            <a:r>
              <a:rPr lang="ko-KR" altLang="en-US"/>
              <a:t>정보공개 지연</a:t>
            </a:r>
            <a:r>
              <a:rPr lang="en-US" altLang="ko-KR"/>
              <a:t>·</a:t>
            </a:r>
            <a:r>
              <a:rPr lang="ko-KR" altLang="en-US"/>
              <a:t>교육 미이수</a:t>
            </a:r>
            <a:r>
              <a:rPr lang="en-US" altLang="ko-KR"/>
              <a:t>·</a:t>
            </a:r>
            <a:r>
              <a:rPr lang="ko-KR" altLang="en-US"/>
              <a:t>입찰 보완 건수를 조합별 표시</a:t>
            </a:r>
          </a:p>
          <a:p>
            <a:r>
              <a:rPr lang="en-US" altLang="ko-KR"/>
              <a:t>• </a:t>
            </a:r>
            <a:r>
              <a:rPr lang="ko-KR" altLang="en-US"/>
              <a:t>담당자는 열람만 가능 </a:t>
            </a:r>
            <a:r>
              <a:rPr lang="en-US" altLang="ko-KR"/>
              <a:t>(</a:t>
            </a:r>
            <a:r>
              <a:rPr lang="ko-KR" altLang="en-US"/>
              <a:t>수정</a:t>
            </a:r>
            <a:r>
              <a:rPr lang="en-US" altLang="ko-KR"/>
              <a:t>·</a:t>
            </a:r>
            <a:r>
              <a:rPr lang="ko-KR" altLang="en-US"/>
              <a:t>삭제 불가</a:t>
            </a:r>
            <a:r>
              <a:rPr lang="en-US" altLang="ko-KR"/>
              <a:t>)</a:t>
            </a:r>
          </a:p>
          <a:p>
            <a:r>
              <a:rPr lang="ko-KR" altLang="en-US"/>
              <a:t>근거</a:t>
            </a:r>
            <a:r>
              <a:rPr lang="en-US" altLang="ko-KR"/>
              <a:t>: </a:t>
            </a:r>
            <a:r>
              <a:rPr lang="ko-KR" altLang="en-US"/>
              <a:t>법 제</a:t>
            </a:r>
            <a:r>
              <a:rPr lang="en-US" altLang="ko-KR"/>
              <a:t>111</a:t>
            </a:r>
            <a:r>
              <a:rPr lang="ko-KR" altLang="en-US"/>
              <a:t>조</a:t>
            </a:r>
            <a:r>
              <a:rPr lang="en-US" altLang="ko-KR"/>
              <a:t>·</a:t>
            </a:r>
            <a:r>
              <a:rPr lang="ko-KR" altLang="en-US"/>
              <a:t>제</a:t>
            </a:r>
            <a:r>
              <a:rPr lang="en-US" altLang="ko-KR"/>
              <a:t>113</a:t>
            </a:r>
            <a:r>
              <a:rPr lang="ko-KR" altLang="en-US"/>
              <a:t>조 업무 지원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36E7D0-5797-424A-97B8-DED0EB48B63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94989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자료 작성</a:t>
            </a:r>
            <a:r>
              <a:rPr lang="en-US" altLang="ko-KR"/>
              <a:t>·</a:t>
            </a:r>
            <a:r>
              <a:rPr lang="ko-KR" altLang="en-US"/>
              <a:t>변경일부터 </a:t>
            </a:r>
            <a:r>
              <a:rPr lang="en-US" altLang="ko-KR"/>
              <a:t>15</a:t>
            </a:r>
            <a:r>
              <a:rPr lang="ko-KR" altLang="en-US"/>
              <a:t>일 공개 기한을 자동 계산해 초과</a:t>
            </a:r>
            <a:r>
              <a:rPr lang="en-US" altLang="ko-KR"/>
              <a:t>·</a:t>
            </a:r>
            <a:r>
              <a:rPr lang="ko-KR" altLang="en-US"/>
              <a:t>임박 순으로 보여줍니다</a:t>
            </a:r>
            <a:r>
              <a:rPr lang="en-US" altLang="ko-KR"/>
              <a:t>.</a:t>
            </a:r>
          </a:p>
          <a:p>
            <a:r>
              <a:rPr lang="en-US" altLang="ko-KR"/>
              <a:t>• </a:t>
            </a:r>
            <a:r>
              <a:rPr lang="ko-KR" altLang="en-US"/>
              <a:t>민원 전에 지연을 먼저 확인</a:t>
            </a:r>
          </a:p>
          <a:p>
            <a:r>
              <a:rPr lang="en-US" altLang="ko-KR"/>
              <a:t>• </a:t>
            </a:r>
            <a:r>
              <a:rPr lang="ko-KR" altLang="en-US"/>
              <a:t>조합별 원문 바로 열람</a:t>
            </a:r>
          </a:p>
          <a:p>
            <a:r>
              <a:rPr lang="ko-KR" altLang="en-US"/>
              <a:t>근거</a:t>
            </a:r>
            <a:r>
              <a:rPr lang="en-US" altLang="ko-KR"/>
              <a:t>: </a:t>
            </a:r>
            <a:r>
              <a:rPr lang="ko-KR" altLang="en-US"/>
              <a:t>법 제</a:t>
            </a:r>
            <a:r>
              <a:rPr lang="en-US" altLang="ko-KR"/>
              <a:t>124</a:t>
            </a:r>
            <a:r>
              <a:rPr lang="ko-KR" altLang="en-US"/>
              <a:t>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36E7D0-5797-424A-97B8-DED0EB48B63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5534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임원은 선임 후 </a:t>
            </a:r>
            <a:r>
              <a:rPr lang="en-US" altLang="ko-KR"/>
              <a:t>6</a:t>
            </a:r>
            <a:r>
              <a:rPr lang="ko-KR" altLang="en-US"/>
              <a:t>개월 내 </a:t>
            </a:r>
            <a:r>
              <a:rPr lang="en-US" altLang="ko-KR"/>
              <a:t>12</a:t>
            </a:r>
            <a:r>
              <a:rPr lang="ko-KR" altLang="en-US"/>
              <a:t>시간 교육 이수</a:t>
            </a:r>
            <a:r>
              <a:rPr lang="en-US" altLang="ko-KR"/>
              <a:t>, </a:t>
            </a:r>
            <a:r>
              <a:rPr lang="ko-KR" altLang="en-US"/>
              <a:t>지자체는 참여 현황 관리 의무</a:t>
            </a:r>
            <a:r>
              <a:rPr lang="en-US" altLang="ko-KR"/>
              <a:t>.</a:t>
            </a:r>
          </a:p>
          <a:p>
            <a:r>
              <a:rPr lang="en-US" altLang="ko-KR"/>
              <a:t>• </a:t>
            </a:r>
            <a:r>
              <a:rPr lang="ko-KR" altLang="en-US"/>
              <a:t>임원별 기한</a:t>
            </a:r>
            <a:r>
              <a:rPr lang="en-US" altLang="ko-KR"/>
              <a:t>·</a:t>
            </a:r>
            <a:r>
              <a:rPr lang="ko-KR" altLang="en-US"/>
              <a:t>인정 시간</a:t>
            </a:r>
            <a:r>
              <a:rPr lang="en-US" altLang="ko-KR"/>
              <a:t>·</a:t>
            </a:r>
            <a:r>
              <a:rPr lang="ko-KR" altLang="en-US"/>
              <a:t>상태 자동 계산</a:t>
            </a:r>
          </a:p>
          <a:p>
            <a:r>
              <a:rPr lang="en-US" altLang="ko-KR"/>
              <a:t>• </a:t>
            </a:r>
            <a:r>
              <a:rPr lang="ko-KR" altLang="en-US"/>
              <a:t>기한 초과</a:t>
            </a:r>
            <a:r>
              <a:rPr lang="en-US" altLang="ko-KR"/>
              <a:t>·</a:t>
            </a:r>
            <a:r>
              <a:rPr lang="ko-KR" altLang="en-US"/>
              <a:t>임박 임원을 관할 전체에서 한 번에</a:t>
            </a:r>
          </a:p>
          <a:p>
            <a:r>
              <a:rPr lang="ko-KR" altLang="en-US"/>
              <a:t>근거</a:t>
            </a:r>
            <a:r>
              <a:rPr lang="en-US" altLang="ko-KR"/>
              <a:t>: </a:t>
            </a:r>
            <a:r>
              <a:rPr lang="ko-KR" altLang="en-US"/>
              <a:t>시행령 제</a:t>
            </a:r>
            <a:r>
              <a:rPr lang="en-US" altLang="ko-KR"/>
              <a:t>90</a:t>
            </a:r>
            <a:r>
              <a:rPr lang="ko-KR" altLang="en-US"/>
              <a:t>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36E7D0-5797-424A-97B8-DED0EB48B63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56129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협력업체</a:t>
            </a:r>
            <a:r>
              <a:rPr lang="en-US" altLang="ko-KR"/>
              <a:t>·</a:t>
            </a:r>
            <a:r>
              <a:rPr lang="ko-KR" altLang="en-US"/>
              <a:t>시공자 선정 입찰이 계약 방식</a:t>
            </a:r>
            <a:r>
              <a:rPr lang="en-US" altLang="ko-KR"/>
              <a:t>·</a:t>
            </a:r>
            <a:r>
              <a:rPr lang="ko-KR" altLang="en-US"/>
              <a:t>금액 기준에 맞는지 자동 점검</a:t>
            </a:r>
            <a:r>
              <a:rPr lang="en-US" altLang="ko-KR"/>
              <a:t>.</a:t>
            </a:r>
          </a:p>
          <a:p>
            <a:r>
              <a:rPr lang="en-US" altLang="ko-KR"/>
              <a:t>• </a:t>
            </a:r>
            <a:r>
              <a:rPr lang="ko-KR" altLang="en-US"/>
              <a:t>수의계약</a:t>
            </a:r>
            <a:r>
              <a:rPr lang="en-US" altLang="ko-KR"/>
              <a:t>·</a:t>
            </a:r>
            <a:r>
              <a:rPr lang="ko-KR" altLang="en-US"/>
              <a:t>지명경쟁 금액 한도</a:t>
            </a:r>
            <a:r>
              <a:rPr lang="en-US" altLang="ko-KR"/>
              <a:t>, </a:t>
            </a:r>
            <a:r>
              <a:rPr lang="ko-KR" altLang="en-US"/>
              <a:t>전자조달 의무</a:t>
            </a:r>
          </a:p>
          <a:p>
            <a:r>
              <a:rPr lang="en-US" altLang="ko-KR"/>
              <a:t>• </a:t>
            </a:r>
            <a:r>
              <a:rPr lang="ko-KR" altLang="en-US"/>
              <a:t>시공자</a:t>
            </a:r>
            <a:r>
              <a:rPr lang="en-US" altLang="ko-KR"/>
              <a:t>: </a:t>
            </a:r>
            <a:r>
              <a:rPr lang="ko-KR" altLang="en-US"/>
              <a:t>조합설립인가 후 </a:t>
            </a:r>
            <a:r>
              <a:rPr lang="en-US" altLang="ko-KR"/>
              <a:t>· 2</a:t>
            </a:r>
            <a:r>
              <a:rPr lang="ko-KR" altLang="en-US"/>
              <a:t>회 유찰 </a:t>
            </a:r>
            <a:r>
              <a:rPr lang="en-US" altLang="ko-KR"/>
              <a:t>· </a:t>
            </a:r>
            <a:r>
              <a:rPr lang="ko-KR" altLang="en-US"/>
              <a:t>합동설명회 </a:t>
            </a:r>
            <a:r>
              <a:rPr lang="en-US" altLang="ko-KR"/>
              <a:t>2</a:t>
            </a:r>
            <a:r>
              <a:rPr lang="ko-KR" altLang="en-US"/>
              <a:t>회</a:t>
            </a:r>
          </a:p>
          <a:p>
            <a:r>
              <a:rPr lang="ko-KR" altLang="en-US"/>
              <a:t>근거</a:t>
            </a:r>
            <a:r>
              <a:rPr lang="en-US" altLang="ko-KR"/>
              <a:t>: </a:t>
            </a:r>
            <a:r>
              <a:rPr lang="ko-KR" altLang="en-US"/>
              <a:t>법 제</a:t>
            </a:r>
            <a:r>
              <a:rPr lang="en-US" altLang="ko-KR"/>
              <a:t>29</a:t>
            </a:r>
            <a:r>
              <a:rPr lang="ko-KR" altLang="en-US"/>
              <a:t>조</a:t>
            </a:r>
            <a:r>
              <a:rPr lang="en-US" altLang="ko-KR"/>
              <a:t>, </a:t>
            </a:r>
            <a:r>
              <a:rPr lang="ko-KR" altLang="en-US"/>
              <a:t>시행령 제</a:t>
            </a:r>
            <a:r>
              <a:rPr lang="en-US" altLang="ko-KR"/>
              <a:t>24</a:t>
            </a:r>
            <a:r>
              <a:rPr lang="ko-KR" altLang="en-US"/>
              <a:t>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36E7D0-5797-424A-97B8-DED0EB48B63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94087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조합장</a:t>
            </a:r>
            <a:r>
              <a:rPr lang="en-US" altLang="ko-KR"/>
              <a:t>·</a:t>
            </a:r>
            <a:r>
              <a:rPr lang="ko-KR" altLang="en-US"/>
              <a:t>사무국은 처리할 일과 비용 절감 효과를 첫 화면에서 봅니다</a:t>
            </a:r>
            <a:r>
              <a:rPr lang="en-US" altLang="ko-KR"/>
              <a:t>.</a:t>
            </a:r>
          </a:p>
          <a:p>
            <a:r>
              <a:rPr lang="en-US" altLang="ko-KR"/>
              <a:t>• </a:t>
            </a:r>
            <a:r>
              <a:rPr lang="ko-KR" altLang="en-US"/>
              <a:t>동의율</a:t>
            </a:r>
            <a:r>
              <a:rPr lang="en-US" altLang="ko-KR"/>
              <a:t>·</a:t>
            </a:r>
            <a:r>
              <a:rPr lang="ko-KR" altLang="en-US"/>
              <a:t>투표 참여</a:t>
            </a:r>
            <a:r>
              <a:rPr lang="en-US" altLang="ko-KR"/>
              <a:t>·</a:t>
            </a:r>
            <a:r>
              <a:rPr lang="ko-KR" altLang="en-US"/>
              <a:t>신분증 미제출 등 핵심 숫자</a:t>
            </a:r>
          </a:p>
          <a:p>
            <a:r>
              <a:rPr lang="en-US" altLang="ko-KR"/>
              <a:t>• </a:t>
            </a:r>
            <a:r>
              <a:rPr lang="ko-KR" altLang="en-US"/>
              <a:t>처리할 일</a:t>
            </a:r>
            <a:r>
              <a:rPr lang="en-US" altLang="ko-KR"/>
              <a:t>: </a:t>
            </a:r>
            <a:r>
              <a:rPr lang="ko-KR" altLang="en-US"/>
              <a:t>문의</a:t>
            </a:r>
            <a:r>
              <a:rPr lang="en-US" altLang="ko-KR"/>
              <a:t>·</a:t>
            </a:r>
            <a:r>
              <a:rPr lang="ko-KR" altLang="en-US"/>
              <a:t>공개 대기</a:t>
            </a:r>
            <a:r>
              <a:rPr lang="en-US" altLang="ko-KR"/>
              <a:t>·</a:t>
            </a:r>
            <a:r>
              <a:rPr lang="ko-KR" altLang="en-US"/>
              <a:t>교육 기한</a:t>
            </a:r>
            <a:r>
              <a:rPr lang="en-US" altLang="ko-KR"/>
              <a:t>·</a:t>
            </a:r>
            <a:r>
              <a:rPr lang="ko-KR" altLang="en-US"/>
              <a:t>서면결의서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36E7D0-5797-424A-97B8-DED0EB48B639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76144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일시</a:t>
            </a:r>
            <a:r>
              <a:rPr lang="en-US" altLang="ko-KR"/>
              <a:t>·</a:t>
            </a:r>
            <a:r>
              <a:rPr lang="ko-KR" altLang="en-US"/>
              <a:t>전자의결 기간</a:t>
            </a:r>
            <a:r>
              <a:rPr lang="en-US" altLang="ko-KR"/>
              <a:t>·</a:t>
            </a:r>
            <a:r>
              <a:rPr lang="ko-KR" altLang="en-US"/>
              <a:t>안건을 정하면 소집통지문이 자동 작성</a:t>
            </a:r>
            <a:r>
              <a:rPr lang="en-US" altLang="ko-KR"/>
              <a:t>, </a:t>
            </a:r>
            <a:r>
              <a:rPr lang="ko-KR" altLang="en-US"/>
              <a:t>알림톡 발송</a:t>
            </a:r>
            <a:r>
              <a:rPr lang="en-US" altLang="ko-KR"/>
              <a:t>.</a:t>
            </a:r>
          </a:p>
          <a:p>
            <a:r>
              <a:rPr lang="en-US" altLang="ko-KR"/>
              <a:t>• </a:t>
            </a:r>
            <a:r>
              <a:rPr lang="ko-KR" altLang="en-US"/>
              <a:t>안건 종류별 필요 직접출석 인원 자동 안내</a:t>
            </a:r>
          </a:p>
          <a:p>
            <a:r>
              <a:rPr lang="en-US" altLang="ko-KR"/>
              <a:t>• </a:t>
            </a:r>
            <a:r>
              <a:rPr lang="ko-KR" altLang="en-US"/>
              <a:t>등기우편 약 </a:t>
            </a:r>
            <a:r>
              <a:rPr lang="en-US" altLang="ko-KR"/>
              <a:t>3,000</a:t>
            </a:r>
            <a:r>
              <a:rPr lang="ko-KR" altLang="en-US"/>
              <a:t>원 → 알림톡 약 </a:t>
            </a:r>
            <a:r>
              <a:rPr lang="en-US" altLang="ko-KR"/>
              <a:t>15</a:t>
            </a:r>
            <a:r>
              <a:rPr lang="ko-KR" altLang="en-US"/>
              <a:t>원 </a:t>
            </a:r>
            <a:r>
              <a:rPr lang="en-US" altLang="ko-KR"/>
              <a:t>(</a:t>
            </a:r>
            <a:r>
              <a:rPr lang="ko-KR" altLang="en-US"/>
              <a:t>건당</a:t>
            </a:r>
            <a:r>
              <a:rPr lang="en-US" altLang="ko-KR"/>
              <a:t>, </a:t>
            </a:r>
            <a:r>
              <a:rPr lang="ko-KR" altLang="en-US"/>
              <a:t>예시 단가</a:t>
            </a:r>
            <a:r>
              <a:rPr lang="en-US" altLang="ko-KR"/>
              <a:t>)</a:t>
            </a:r>
          </a:p>
          <a:p>
            <a:r>
              <a:rPr lang="ko-KR" altLang="en-US"/>
              <a:t>근거</a:t>
            </a:r>
            <a:r>
              <a:rPr lang="en-US" altLang="ko-KR"/>
              <a:t>: </a:t>
            </a:r>
            <a:r>
              <a:rPr lang="ko-KR" altLang="en-US"/>
              <a:t>시행령 제</a:t>
            </a:r>
            <a:r>
              <a:rPr lang="en-US" altLang="ko-KR"/>
              <a:t>42</a:t>
            </a:r>
            <a:r>
              <a:rPr lang="ko-KR" altLang="en-US"/>
              <a:t>조 제</a:t>
            </a:r>
            <a:r>
              <a:rPr lang="en-US" altLang="ko-KR"/>
              <a:t>2</a:t>
            </a:r>
            <a:r>
              <a:rPr lang="ko-KR" altLang="en-US"/>
              <a:t>항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36E7D0-5797-424A-97B8-DED0EB48B639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96683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개표 전에는 찬반 집계 비공개</a:t>
            </a:r>
            <a:r>
              <a:rPr lang="en-US" altLang="ko-KR"/>
              <a:t>. </a:t>
            </a:r>
            <a:r>
              <a:rPr lang="ko-KR" altLang="en-US"/>
              <a:t>현장</a:t>
            </a:r>
            <a:r>
              <a:rPr lang="en-US" altLang="ko-KR"/>
              <a:t>·</a:t>
            </a:r>
            <a:r>
              <a:rPr lang="ko-KR" altLang="en-US"/>
              <a:t>대리인</a:t>
            </a:r>
            <a:r>
              <a:rPr lang="en-US" altLang="ko-KR"/>
              <a:t>·</a:t>
            </a:r>
            <a:r>
              <a:rPr lang="ko-KR" altLang="en-US"/>
              <a:t>온라인 출석을 합쳐 성원 판정</a:t>
            </a:r>
            <a:r>
              <a:rPr lang="en-US" altLang="ko-KR"/>
              <a:t>.</a:t>
            </a:r>
          </a:p>
          <a:p>
            <a:r>
              <a:rPr lang="en-US" altLang="ko-KR"/>
              <a:t>• </a:t>
            </a:r>
            <a:r>
              <a:rPr lang="ko-KR" altLang="en-US"/>
              <a:t>의사정족수 </a:t>
            </a:r>
            <a:r>
              <a:rPr lang="en-US" altLang="ko-KR"/>
              <a:t>+ </a:t>
            </a:r>
            <a:r>
              <a:rPr lang="ko-KR" altLang="en-US"/>
              <a:t>직접출석 </a:t>
            </a:r>
            <a:r>
              <a:rPr lang="en-US" altLang="ko-KR"/>
              <a:t>10%·20%·</a:t>
            </a:r>
            <a:r>
              <a:rPr lang="ko-KR" altLang="en-US"/>
              <a:t>과반수 요건</a:t>
            </a:r>
          </a:p>
          <a:p>
            <a:r>
              <a:rPr lang="en-US" altLang="ko-KR"/>
              <a:t>• </a:t>
            </a:r>
            <a:r>
              <a:rPr lang="ko-KR" altLang="en-US"/>
              <a:t>개표 후 안건별 가결</a:t>
            </a:r>
            <a:r>
              <a:rPr lang="en-US" altLang="ko-KR"/>
              <a:t>·</a:t>
            </a:r>
            <a:r>
              <a:rPr lang="ko-KR" altLang="en-US"/>
              <a:t>부결 자동 판정</a:t>
            </a:r>
          </a:p>
          <a:p>
            <a:r>
              <a:rPr lang="ko-KR" altLang="en-US"/>
              <a:t>근거</a:t>
            </a:r>
            <a:r>
              <a:rPr lang="en-US" altLang="ko-KR"/>
              <a:t>: </a:t>
            </a:r>
            <a:r>
              <a:rPr lang="ko-KR" altLang="en-US"/>
              <a:t>법 제</a:t>
            </a:r>
            <a:r>
              <a:rPr lang="en-US" altLang="ko-KR"/>
              <a:t>45</a:t>
            </a:r>
            <a:r>
              <a:rPr lang="ko-KR" altLang="en-US"/>
              <a:t>조</a:t>
            </a:r>
            <a:r>
              <a:rPr lang="en-US" altLang="ko-KR"/>
              <a:t>, </a:t>
            </a:r>
            <a:r>
              <a:rPr lang="ko-KR" altLang="en-US"/>
              <a:t>제</a:t>
            </a:r>
            <a:r>
              <a:rPr lang="en-US" altLang="ko-KR"/>
              <a:t>44</a:t>
            </a:r>
            <a:r>
              <a:rPr lang="ko-KR" altLang="en-US"/>
              <a:t>조의</a:t>
            </a:r>
            <a:r>
              <a:rPr lang="en-US" altLang="ko-KR"/>
              <a:t>2, </a:t>
            </a:r>
            <a:r>
              <a:rPr lang="ko-KR" altLang="en-US"/>
              <a:t>시행령 제</a:t>
            </a:r>
            <a:r>
              <a:rPr lang="en-US" altLang="ko-KR"/>
              <a:t>42</a:t>
            </a:r>
            <a:r>
              <a:rPr lang="ko-KR" altLang="en-US"/>
              <a:t>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36E7D0-5797-424A-97B8-DED0EB48B639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15394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추진위 구성</a:t>
            </a:r>
            <a:r>
              <a:rPr lang="en-US" altLang="ko-KR"/>
              <a:t>·</a:t>
            </a:r>
            <a:r>
              <a:rPr lang="ko-KR" altLang="en-US"/>
              <a:t>조합설립 동의를 휴대폰으로 받고 법정 요건 대비 동의율을 실시간 확인</a:t>
            </a:r>
            <a:r>
              <a:rPr lang="en-US" altLang="ko-KR"/>
              <a:t>.</a:t>
            </a:r>
          </a:p>
          <a:p>
            <a:r>
              <a:rPr lang="en-US" altLang="ko-KR"/>
              <a:t>• </a:t>
            </a:r>
            <a:r>
              <a:rPr lang="ko-KR" altLang="en-US"/>
              <a:t>재개발 </a:t>
            </a:r>
            <a:r>
              <a:rPr lang="en-US" altLang="ko-KR"/>
              <a:t>3/4, </a:t>
            </a:r>
            <a:r>
              <a:rPr lang="ko-KR" altLang="en-US"/>
              <a:t>재건축 동별 과반</a:t>
            </a:r>
            <a:r>
              <a:rPr lang="en-US" altLang="ko-KR"/>
              <a:t>+70% </a:t>
            </a:r>
            <a:r>
              <a:rPr lang="ko-KR" altLang="en-US"/>
              <a:t>등 자동 적용</a:t>
            </a:r>
          </a:p>
          <a:p>
            <a:r>
              <a:rPr lang="en-US" altLang="ko-KR"/>
              <a:t>• </a:t>
            </a:r>
            <a:r>
              <a:rPr lang="ko-KR" altLang="en-US"/>
              <a:t>철회 가능 기간 판정과 철회서 접수</a:t>
            </a:r>
          </a:p>
          <a:p>
            <a:r>
              <a:rPr lang="ko-KR" altLang="en-US"/>
              <a:t>근거</a:t>
            </a:r>
            <a:r>
              <a:rPr lang="en-US" altLang="ko-KR"/>
              <a:t>: </a:t>
            </a:r>
            <a:r>
              <a:rPr lang="ko-KR" altLang="en-US"/>
              <a:t>법 제</a:t>
            </a:r>
            <a:r>
              <a:rPr lang="en-US" altLang="ko-KR"/>
              <a:t>35</a:t>
            </a:r>
            <a:r>
              <a:rPr lang="ko-KR" altLang="en-US"/>
              <a:t>조</a:t>
            </a:r>
            <a:r>
              <a:rPr lang="en-US" altLang="ko-KR"/>
              <a:t>·</a:t>
            </a:r>
            <a:r>
              <a:rPr lang="ko-KR" altLang="en-US"/>
              <a:t>제</a:t>
            </a:r>
            <a:r>
              <a:rPr lang="en-US" altLang="ko-KR"/>
              <a:t>36</a:t>
            </a:r>
            <a:r>
              <a:rPr lang="ko-KR" altLang="en-US"/>
              <a:t>조</a:t>
            </a:r>
            <a:r>
              <a:rPr lang="en-US" altLang="ko-KR"/>
              <a:t>, </a:t>
            </a:r>
            <a:r>
              <a:rPr lang="ko-KR" altLang="en-US"/>
              <a:t>시행령 제</a:t>
            </a:r>
            <a:r>
              <a:rPr lang="en-US" altLang="ko-KR"/>
              <a:t>33</a:t>
            </a:r>
            <a:r>
              <a:rPr lang="ko-KR" altLang="en-US"/>
              <a:t>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36E7D0-5797-424A-97B8-DED0EB48B639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60550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명부</a:t>
            </a:r>
            <a:r>
              <a:rPr lang="en-US" altLang="ko-KR"/>
              <a:t>, </a:t>
            </a:r>
            <a:r>
              <a:rPr lang="ko-KR" altLang="en-US"/>
              <a:t>신분증</a:t>
            </a:r>
            <a:r>
              <a:rPr lang="en-US" altLang="ko-KR"/>
              <a:t>·</a:t>
            </a:r>
            <a:r>
              <a:rPr lang="ko-KR" altLang="en-US"/>
              <a:t>서면결의서 제출</a:t>
            </a:r>
            <a:r>
              <a:rPr lang="en-US" altLang="ko-KR"/>
              <a:t>, </a:t>
            </a:r>
            <a:r>
              <a:rPr lang="ko-KR" altLang="en-US"/>
              <a:t>연번</a:t>
            </a:r>
            <a:r>
              <a:rPr lang="en-US" altLang="ko-KR"/>
              <a:t>, </a:t>
            </a:r>
            <a:r>
              <a:rPr lang="ko-KR" altLang="en-US"/>
              <a:t>소유권 변동을 한 곳에서 관리</a:t>
            </a:r>
            <a:r>
              <a:rPr lang="en-US" altLang="ko-KR"/>
              <a:t>.</a:t>
            </a:r>
          </a:p>
          <a:p>
            <a:r>
              <a:rPr lang="en-US" altLang="ko-KR"/>
              <a:t>• </a:t>
            </a:r>
            <a:r>
              <a:rPr lang="ko-KR" altLang="en-US"/>
              <a:t>주민번호 기본 마스킹</a:t>
            </a:r>
            <a:r>
              <a:rPr lang="en-US" altLang="ko-KR"/>
              <a:t>, </a:t>
            </a:r>
            <a:r>
              <a:rPr lang="ko-KR" altLang="en-US"/>
              <a:t>원본 열람 시 사유 기록</a:t>
            </a:r>
          </a:p>
          <a:p>
            <a:r>
              <a:rPr lang="en-US" altLang="ko-KR"/>
              <a:t>• </a:t>
            </a:r>
            <a:r>
              <a:rPr lang="ko-KR" altLang="en-US"/>
              <a:t>매매</a:t>
            </a:r>
            <a:r>
              <a:rPr lang="en-US" altLang="ko-KR"/>
              <a:t>·</a:t>
            </a:r>
            <a:r>
              <a:rPr lang="ko-KR" altLang="en-US"/>
              <a:t>상속 변동 시 조합원 자격 제한 자동 점검</a:t>
            </a:r>
          </a:p>
          <a:p>
            <a:r>
              <a:rPr lang="ko-KR" altLang="en-US"/>
              <a:t>근거</a:t>
            </a:r>
            <a:r>
              <a:rPr lang="en-US" altLang="ko-KR"/>
              <a:t>: </a:t>
            </a:r>
            <a:r>
              <a:rPr lang="ko-KR" altLang="en-US"/>
              <a:t>시행령 제</a:t>
            </a:r>
            <a:r>
              <a:rPr lang="en-US" altLang="ko-KR"/>
              <a:t>97</a:t>
            </a:r>
            <a:r>
              <a:rPr lang="ko-KR" altLang="en-US"/>
              <a:t>조</a:t>
            </a:r>
            <a:r>
              <a:rPr lang="en-US" altLang="ko-KR"/>
              <a:t>, </a:t>
            </a:r>
            <a:r>
              <a:rPr lang="ko-KR" altLang="en-US"/>
              <a:t>법 제</a:t>
            </a:r>
            <a:r>
              <a:rPr lang="en-US" altLang="ko-KR"/>
              <a:t>39</a:t>
            </a:r>
            <a:r>
              <a:rPr lang="ko-KR" altLang="en-US"/>
              <a:t>조</a:t>
            </a:r>
            <a:r>
              <a:rPr lang="en-US" altLang="ko-KR"/>
              <a:t>·</a:t>
            </a:r>
            <a:r>
              <a:rPr lang="ko-KR" altLang="en-US"/>
              <a:t>제</a:t>
            </a:r>
            <a:r>
              <a:rPr lang="en-US" altLang="ko-KR"/>
              <a:t>129</a:t>
            </a:r>
            <a:r>
              <a:rPr lang="ko-KR" altLang="en-US"/>
              <a:t>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36E7D0-5797-424A-97B8-DED0EB48B639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89415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본인 이름 선택 → 안건마다 찬성</a:t>
            </a:r>
            <a:r>
              <a:rPr lang="en-US" altLang="ko-KR"/>
              <a:t>·</a:t>
            </a:r>
            <a:r>
              <a:rPr lang="ko-KR" altLang="en-US"/>
              <a:t>반대</a:t>
            </a:r>
            <a:r>
              <a:rPr lang="en-US" altLang="ko-KR"/>
              <a:t>·</a:t>
            </a:r>
            <a:r>
              <a:rPr lang="ko-KR" altLang="en-US"/>
              <a:t>기권 → 투표 제출</a:t>
            </a:r>
            <a:r>
              <a:rPr lang="en-US" altLang="ko-KR"/>
              <a:t>.</a:t>
            </a:r>
          </a:p>
          <a:p>
            <a:r>
              <a:rPr lang="en-US" altLang="ko-KR"/>
              <a:t>• </a:t>
            </a:r>
            <a:r>
              <a:rPr lang="ko-KR" altLang="en-US"/>
              <a:t>서면결의서 우편</a:t>
            </a:r>
            <a:r>
              <a:rPr lang="en-US" altLang="ko-KR"/>
              <a:t>·</a:t>
            </a:r>
            <a:r>
              <a:rPr lang="ko-KR" altLang="en-US"/>
              <a:t>방문 회수 불필요</a:t>
            </a:r>
          </a:p>
          <a:p>
            <a:r>
              <a:rPr lang="en-US" altLang="ko-KR"/>
              <a:t>• </a:t>
            </a:r>
            <a:r>
              <a:rPr lang="ko-KR" altLang="en-US"/>
              <a:t>서면 방법도 함께 보장 </a:t>
            </a:r>
            <a:r>
              <a:rPr lang="en-US" altLang="ko-KR"/>
              <a:t>· </a:t>
            </a:r>
            <a:r>
              <a:rPr lang="ko-KR" altLang="en-US"/>
              <a:t>큰 글씨 기본</a:t>
            </a:r>
          </a:p>
          <a:p>
            <a:r>
              <a:rPr lang="ko-KR" altLang="en-US"/>
              <a:t>근거</a:t>
            </a:r>
            <a:r>
              <a:rPr lang="en-US" altLang="ko-KR"/>
              <a:t>: </a:t>
            </a:r>
            <a:r>
              <a:rPr lang="ko-KR" altLang="en-US"/>
              <a:t>법 제</a:t>
            </a:r>
            <a:r>
              <a:rPr lang="en-US" altLang="ko-KR"/>
              <a:t>45</a:t>
            </a:r>
            <a:r>
              <a:rPr lang="ko-KR" altLang="en-US"/>
              <a:t>조 제</a:t>
            </a:r>
            <a:r>
              <a:rPr lang="en-US" altLang="ko-KR"/>
              <a:t>6</a:t>
            </a:r>
            <a:r>
              <a:rPr lang="ko-KR" altLang="en-US"/>
              <a:t>항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36E7D0-5797-424A-97B8-DED0EB48B639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20490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총회 당일 「입장하기」로 참석하면 직접 출석으로 인정</a:t>
            </a:r>
            <a:r>
              <a:rPr lang="en-US" altLang="ko-KR"/>
              <a:t>, </a:t>
            </a:r>
            <a:r>
              <a:rPr lang="ko-KR" altLang="en-US"/>
              <a:t>접속 기록 보관</a:t>
            </a:r>
            <a:r>
              <a:rPr lang="en-US" altLang="ko-KR"/>
              <a:t>.</a:t>
            </a:r>
          </a:p>
          <a:p>
            <a:r>
              <a:rPr lang="en-US" altLang="ko-KR"/>
              <a:t>• </a:t>
            </a:r>
            <a:r>
              <a:rPr lang="ko-KR" altLang="en-US"/>
              <a:t>총회장 대관</a:t>
            </a:r>
            <a:r>
              <a:rPr lang="en-US" altLang="ko-KR"/>
              <a:t>·</a:t>
            </a:r>
            <a:r>
              <a:rPr lang="ko-KR" altLang="en-US"/>
              <a:t>인력 축소</a:t>
            </a:r>
          </a:p>
          <a:p>
            <a:r>
              <a:rPr lang="en-US" altLang="ko-KR"/>
              <a:t>• </a:t>
            </a:r>
            <a:r>
              <a:rPr lang="ko-KR" altLang="en-US"/>
              <a:t>먼 곳 조합원도 참석</a:t>
            </a:r>
          </a:p>
          <a:p>
            <a:r>
              <a:rPr lang="ko-KR" altLang="en-US"/>
              <a:t>근거</a:t>
            </a:r>
            <a:r>
              <a:rPr lang="en-US" altLang="ko-KR"/>
              <a:t>: </a:t>
            </a:r>
            <a:r>
              <a:rPr lang="ko-KR" altLang="en-US"/>
              <a:t>법 제</a:t>
            </a:r>
            <a:r>
              <a:rPr lang="en-US" altLang="ko-KR"/>
              <a:t>44</a:t>
            </a:r>
            <a:r>
              <a:rPr lang="ko-KR" altLang="en-US"/>
              <a:t>조의</a:t>
            </a:r>
            <a:r>
              <a:rPr lang="en-US" altLang="ko-KR"/>
              <a:t>2 </a:t>
            </a:r>
            <a:r>
              <a:rPr lang="ko-KR" altLang="en-US"/>
              <a:t>제</a:t>
            </a:r>
            <a:r>
              <a:rPr lang="en-US" altLang="ko-KR"/>
              <a:t>2</a:t>
            </a:r>
            <a:r>
              <a:rPr lang="ko-KR" altLang="en-US"/>
              <a:t>항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36E7D0-5797-424A-97B8-DED0EB48B639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40157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허가받은 조합원만 글을 쓰는 카페형 소통 공간</a:t>
            </a:r>
            <a:r>
              <a:rPr lang="en-US" altLang="ko-KR"/>
              <a:t>.</a:t>
            </a:r>
          </a:p>
          <a:p>
            <a:r>
              <a:rPr lang="en-US" altLang="ko-KR"/>
              <a:t>• </a:t>
            </a:r>
            <a:r>
              <a:rPr lang="ko-KR" altLang="en-US"/>
              <a:t>공지</a:t>
            </a:r>
            <a:r>
              <a:rPr lang="en-US" altLang="ko-KR"/>
              <a:t>·</a:t>
            </a:r>
            <a:r>
              <a:rPr lang="ko-KR" altLang="en-US"/>
              <a:t>자료</a:t>
            </a:r>
            <a:r>
              <a:rPr lang="en-US" altLang="ko-KR"/>
              <a:t>·</a:t>
            </a:r>
            <a:r>
              <a:rPr lang="ko-KR" altLang="en-US"/>
              <a:t>사진</a:t>
            </a:r>
            <a:r>
              <a:rPr lang="en-US" altLang="ko-KR"/>
              <a:t>·PDF </a:t>
            </a:r>
            <a:r>
              <a:rPr lang="ko-KR" altLang="en-US"/>
              <a:t>공유</a:t>
            </a:r>
          </a:p>
          <a:p>
            <a:r>
              <a:rPr lang="en-US" altLang="ko-KR"/>
              <a:t>• </a:t>
            </a:r>
            <a:r>
              <a:rPr lang="ko-KR" altLang="en-US"/>
              <a:t>모든 화면 「❓ 사용 방법」 단계 안내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36E7D0-5797-424A-97B8-DED0EB48B639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0830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절감액은 예시 단가 기준 추정치입니다</a:t>
            </a:r>
            <a:r>
              <a:rPr lang="en-US" altLang="ko-KR"/>
              <a:t>. </a:t>
            </a:r>
            <a:r>
              <a:rPr lang="ko-KR" altLang="en-US"/>
              <a:t>실제 조합 규모를 넣은 맞춤 리포트</a:t>
            </a:r>
            <a:r>
              <a:rPr lang="en-US" altLang="ko-KR"/>
              <a:t>(report.html)</a:t>
            </a:r>
            <a:r>
              <a:rPr lang="ko-KR" altLang="en-US"/>
              <a:t>를 함께 드리면 설득력이 높습니다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36E7D0-5797-424A-97B8-DED0EB48B639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4519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E568F5-1D9E-4C63-A1FC-ACA0434685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E221812-891E-4648-AB14-84B908A8B8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54A44E-7F71-4F2D-A482-C5C8AD36C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AD420-2DD2-4243-9C8A-FC2FCBDE36D4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A4A908-01BC-43F1-BD4D-ED94C6EEA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D299E3-979C-4EAB-8887-75722FCE2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39F5-A029-4F9F-8258-B2266FD3F9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9126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DFCEFE-647B-42C7-9622-06E25DDB2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495256-ABCF-45C2-A8CA-DDA791D73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8A057C-5081-48B4-B807-FCDDE6DDC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AD420-2DD2-4243-9C8A-FC2FCBDE36D4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D8070E-8AE6-4604-8E26-B110D3884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F2A494-5775-4082-9A34-FCA92C470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39F5-A029-4F9F-8258-B2266FD3F9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5274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17EE13-E559-47E7-A7F9-6A0A84586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D31E75-6C67-49B7-A174-7E0DA0AE3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427A42-CEFC-45A6-B461-5207CF823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AD420-2DD2-4243-9C8A-FC2FCBDE36D4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674B41-D857-4F29-BA32-A88BCB1BE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ED5C80-64E6-4A70-A1B1-C7532CE45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39F5-A029-4F9F-8258-B2266FD3F9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2665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F5C2EF-2383-4D99-AEF7-B1A3F2BBD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081409-AA8F-414E-8301-950983FF43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77B3EF-B3C9-4762-A147-EC5E063F92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867E8C-3439-4ABE-A8D4-E50204307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AD420-2DD2-4243-9C8A-FC2FCBDE36D4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D60E4B-0479-4F15-AF04-867BE943B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5D022D-7262-4D37-BE24-0806558E3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39F5-A029-4F9F-8258-B2266FD3F9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249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2978CB-BC12-41FC-B1AF-781A44B9A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2A853E-B23D-4C37-9BD3-8F01E72863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F534B96-6A25-4FD0-A8A2-D91C4F52D1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451DE3F-83EA-402F-B7A9-1138B8539B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76323A8-E2A9-436C-9DAC-7F2E05246A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304BD2E-541F-4011-B607-C6EAE7F78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AD420-2DD2-4243-9C8A-FC2FCBDE36D4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B10281A-371A-43B1-B3B9-F4B50DDC9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21A129D-DE8C-49A1-84A9-FF8F94F4A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39F5-A029-4F9F-8258-B2266FD3F9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5735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6DC1F2-96F7-412D-8BCD-7D73010E6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6DD06E4-9402-41CE-AA33-4AB4268C2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AD420-2DD2-4243-9C8A-FC2FCBDE36D4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DEA526F-A199-45D5-83AE-FC8574A9A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24B20E7-C4DD-4F05-BCFF-2284BDC59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39F5-A029-4F9F-8258-B2266FD3F9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3281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AA96864-4C45-4298-B65F-2D6E8E155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AD420-2DD2-4243-9C8A-FC2FCBDE36D4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8551F98-CD74-4092-9991-C4481E417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1520ED-34F9-4406-8E1D-917895445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39F5-A029-4F9F-8258-B2266FD3F9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9704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F8BA70-B2B6-473C-A249-63B2DE916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F23813-1693-47FE-A940-F9B6C94BD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F8C55E-3799-4505-9611-73492265AB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8D9A8C-5119-4084-9261-3292BBD2C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AD420-2DD2-4243-9C8A-FC2FCBDE36D4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F4154A-A475-4814-8D51-C73DDA499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95FF00-5280-4B4D-AF15-FE33B4879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39F5-A029-4F9F-8258-B2266FD3F9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631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0CDE26-A239-44AA-B26B-55F62603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8C5FA8B-EB86-42B5-BED4-952E4F2DFC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301E09-EA94-4BA1-8552-A54D18E775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634858E-F420-410D-93B0-E65CCEC68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AD420-2DD2-4243-9C8A-FC2FCBDE36D4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F5E2A7-C782-4D54-A1C9-883359C3A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BB1A9C-963D-42C2-89CD-B18032306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39F5-A029-4F9F-8258-B2266FD3F9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5814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2F5E8-70C3-4F49-8351-A70E8C828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29706B5-564D-4038-BCE9-88074E336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392D99-2333-4513-8315-E124972C4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AD420-2DD2-4243-9C8A-FC2FCBDE36D4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9193D7-530C-4689-A0A5-33264253A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DF029F-AD27-4EE6-B6B9-F96F50A72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39F5-A029-4F9F-8258-B2266FD3F9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8089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4D389BE-58C3-40E1-8A0C-EAA0DF4E4C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202C237-216B-49AB-8412-B6455E6112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45A9FE-B58F-40D1-942D-2E92498FA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AD420-2DD2-4243-9C8A-FC2FCBDE36D4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0E3C68-E646-4F5A-AD63-AFCD8328A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F349BC-443E-4B38-BD83-89A49CB8C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39F5-A029-4F9F-8258-B2266FD3F9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8860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E8EC5C4-87CC-401A-93F5-F71298E47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D86D77-FD1E-4239-BB36-6882FB06E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200223-3954-401C-A815-7C5A0EEC78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5AD420-2DD2-4243-9C8A-FC2FCBDE36D4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7F09A6-1B62-486C-A474-8F9DEB1EA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9E126E-C7E8-4D51-8CE7-F0EC2D3783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8B39F5-A029-4F9F-8258-B2266FD3F9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826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55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6AC904F-EAEB-44CD-9A4C-8EDEC62D82FD}"/>
              </a:ext>
            </a:extLst>
          </p:cNvPr>
          <p:cNvSpPr/>
          <p:nvPr/>
        </p:nvSpPr>
        <p:spPr>
          <a:xfrm>
            <a:off x="769620" y="744220"/>
            <a:ext cx="391160" cy="391160"/>
          </a:xfrm>
          <a:prstGeom prst="rect">
            <a:avLst/>
          </a:prstGeom>
          <a:noFill/>
          <a:ln w="46228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D516226-4777-4A7A-85AA-192933A1748D}"/>
              </a:ext>
            </a:extLst>
          </p:cNvPr>
          <p:cNvCxnSpPr/>
          <p:nvPr/>
        </p:nvCxnSpPr>
        <p:spPr>
          <a:xfrm>
            <a:off x="965200" y="744220"/>
            <a:ext cx="0" cy="391160"/>
          </a:xfrm>
          <a:prstGeom prst="line">
            <a:avLst/>
          </a:prstGeom>
          <a:ln w="46228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2BF9503-B193-48C5-8911-7B7E1903238D}"/>
              </a:ext>
            </a:extLst>
          </p:cNvPr>
          <p:cNvCxnSpPr/>
          <p:nvPr/>
        </p:nvCxnSpPr>
        <p:spPr>
          <a:xfrm>
            <a:off x="769620" y="939800"/>
            <a:ext cx="391160" cy="0"/>
          </a:xfrm>
          <a:prstGeom prst="line">
            <a:avLst/>
          </a:prstGeom>
          <a:ln w="46228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7587A2-424B-429B-BAD4-D34615753B31}"/>
              </a:ext>
            </a:extLst>
          </p:cNvPr>
          <p:cNvSpPr/>
          <p:nvPr/>
        </p:nvSpPr>
        <p:spPr>
          <a:xfrm>
            <a:off x="990092" y="769112"/>
            <a:ext cx="145796" cy="145796"/>
          </a:xfrm>
          <a:prstGeom prst="rect">
            <a:avLst/>
          </a:prstGeom>
          <a:solidFill>
            <a:srgbClr val="F2B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B8513A-F9DE-4C85-98C5-566C9691F1FD}"/>
              </a:ext>
            </a:extLst>
          </p:cNvPr>
          <p:cNvSpPr txBox="1"/>
          <p:nvPr/>
        </p:nvSpPr>
        <p:spPr>
          <a:xfrm>
            <a:off x="609600" y="1905000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b="1">
                <a:solidFill>
                  <a:srgbClr val="CFE3E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영업 시연 시나리오 대본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074C14-E991-4971-8E3C-FDDBB863E4CE}"/>
              </a:ext>
            </a:extLst>
          </p:cNvPr>
          <p:cNvSpPr txBox="1"/>
          <p:nvPr/>
        </p:nvSpPr>
        <p:spPr>
          <a:xfrm>
            <a:off x="609600" y="23114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4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조합</a:t>
            </a:r>
            <a:r>
              <a:rPr lang="en-US" altLang="ko-KR" sz="4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ONE 10</a:t>
            </a:r>
            <a:r>
              <a:rPr lang="ko-KR" altLang="en-US" sz="4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 시연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2F7EE1-0664-4DC7-A5D8-AF8360654419}"/>
              </a:ext>
            </a:extLst>
          </p:cNvPr>
          <p:cNvSpPr txBox="1"/>
          <p:nvPr/>
        </p:nvSpPr>
        <p:spPr>
          <a:xfrm>
            <a:off x="609600" y="32004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</a:t>
            </a:r>
            <a:r>
              <a:rPr lang="en-US" altLang="ko-KR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구청 담당자  →  조합장  →  조합원 </a:t>
            </a:r>
            <a:r>
              <a:rPr lang="en-US" altLang="ko-KR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12</a:t>
            </a:r>
            <a:r>
              <a:rPr lang="ko-KR" altLang="en-US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91B6124-8E13-4A0F-8FEB-EA078C930481}"/>
              </a:ext>
            </a:extLst>
          </p:cNvPr>
          <p:cNvSpPr/>
          <p:nvPr/>
        </p:nvSpPr>
        <p:spPr>
          <a:xfrm>
            <a:off x="609600" y="4191000"/>
            <a:ext cx="6604000" cy="1168400"/>
          </a:xfrm>
          <a:prstGeom prst="roundRect">
            <a:avLst>
              <a:gd name="adj" fmla="val 8000"/>
            </a:avLst>
          </a:prstGeom>
          <a:solidFill>
            <a:srgbClr val="0843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2D93D2-CA9C-401A-8D1C-7D36F3DAC8DF}"/>
              </a:ext>
            </a:extLst>
          </p:cNvPr>
          <p:cNvSpPr txBox="1"/>
          <p:nvPr/>
        </p:nvSpPr>
        <p:spPr>
          <a:xfrm>
            <a:off x="838200" y="4368800"/>
            <a:ext cx="622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BFD9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시연 주소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7EACA8-B3D2-4077-8191-B7443DA83C17}"/>
              </a:ext>
            </a:extLst>
          </p:cNvPr>
          <p:cNvSpPr txBox="1"/>
          <p:nvPr/>
        </p:nvSpPr>
        <p:spPr>
          <a:xfrm>
            <a:off x="838200" y="4622800"/>
            <a:ext cx="622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mkenc3-ctrl.github.io/johapone-demo/demo.html</a:t>
            </a:r>
            <a:endParaRPr lang="ko-KR" altLang="en-US" sz="16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5845A2-64ED-476C-BA31-596EA5806E6A}"/>
              </a:ext>
            </a:extLst>
          </p:cNvPr>
          <p:cNvSpPr txBox="1"/>
          <p:nvPr/>
        </p:nvSpPr>
        <p:spPr>
          <a:xfrm>
            <a:off x="838200" y="4978400"/>
            <a:ext cx="622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CFE3E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설치 안내 페이지</a:t>
            </a:r>
            <a:r>
              <a:rPr lang="en-US" altLang="ko-KR" sz="1200">
                <a:solidFill>
                  <a:srgbClr val="CFE3E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(install.html)</a:t>
            </a:r>
            <a:r>
              <a:rPr lang="ko-KR" altLang="en-US" sz="1200">
                <a:solidFill>
                  <a:srgbClr val="CFE3E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③ </a:t>
            </a:r>
            <a:r>
              <a:rPr lang="en-US" altLang="ko-KR" sz="1200">
                <a:solidFill>
                  <a:srgbClr val="CFE3E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QR</a:t>
            </a:r>
            <a:r>
              <a:rPr lang="ko-KR" altLang="en-US" sz="1200">
                <a:solidFill>
                  <a:srgbClr val="CFE3E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코드로도 열 수 있음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1B7B4E-3170-49F5-B0E9-3543B94CFD9E}"/>
              </a:ext>
            </a:extLst>
          </p:cNvPr>
          <p:cNvSpPr txBox="1"/>
          <p:nvPr/>
        </p:nvSpPr>
        <p:spPr>
          <a:xfrm>
            <a:off x="609600" y="6223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BFD9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인터넷이 안 되는 회의실에서는 이 자료의 화면 캡처로 같은 순서를 설명합니다</a:t>
            </a:r>
            <a:r>
              <a:rPr lang="en-US" altLang="ko-KR" sz="1100">
                <a:solidFill>
                  <a:srgbClr val="BFD9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BFD9D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3858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4F1138-6479-46E2-BEC7-DFBE3E9BB980}"/>
              </a:ext>
            </a:extLst>
          </p:cNvPr>
          <p:cNvSpPr txBox="1"/>
          <p:nvPr/>
        </p:nvSpPr>
        <p:spPr>
          <a:xfrm>
            <a:off x="609600" y="381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C2410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시연 전 준비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73BF060-AC72-4F29-A6E1-EA520CA6A77E}"/>
              </a:ext>
            </a:extLst>
          </p:cNvPr>
          <p:cNvSpPr txBox="1"/>
          <p:nvPr/>
        </p:nvSpPr>
        <p:spPr>
          <a:xfrm>
            <a:off x="609600" y="635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800" b="1">
                <a:solidFill>
                  <a:srgbClr val="1E21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시작 </a:t>
            </a:r>
            <a:r>
              <a:rPr lang="en-US" altLang="ko-KR" sz="2800" b="1">
                <a:solidFill>
                  <a:srgbClr val="1E21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2800" b="1">
                <a:solidFill>
                  <a:srgbClr val="1E21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 전 체크리스트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38BFB25F-2F30-49E9-BBB8-0F1E61EC28A8}"/>
              </a:ext>
            </a:extLst>
          </p:cNvPr>
          <p:cNvSpPr/>
          <p:nvPr/>
        </p:nvSpPr>
        <p:spPr>
          <a:xfrm>
            <a:off x="609600" y="1473200"/>
            <a:ext cx="431800" cy="431800"/>
          </a:xfrm>
          <a:prstGeom prst="ellipse">
            <a:avLst/>
          </a:prstGeom>
          <a:solidFill>
            <a:srgbClr val="0B556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rIns="2540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4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7B72BB-AEC9-4594-890A-6EEE469508FB}"/>
              </a:ext>
            </a:extLst>
          </p:cNvPr>
          <p:cNvSpPr txBox="1"/>
          <p:nvPr/>
        </p:nvSpPr>
        <p:spPr>
          <a:xfrm>
            <a:off x="1219200" y="14859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1E21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시연 페이지 열기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4DD79B-710F-422E-9FCE-D0B22B03F8E8}"/>
              </a:ext>
            </a:extLst>
          </p:cNvPr>
          <p:cNvSpPr txBox="1"/>
          <p:nvPr/>
        </p:nvSpPr>
        <p:spPr>
          <a:xfrm>
            <a:off x="1219200" y="17399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2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demo.html — PC</a:t>
            </a:r>
            <a:r>
              <a:rPr lang="ko-KR" altLang="en-US" sz="12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왼쪽 대본 </a:t>
            </a:r>
            <a:r>
              <a:rPr lang="en-US" altLang="ko-KR" sz="12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12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오른쪽 실제 화면</a:t>
            </a:r>
            <a:r>
              <a:rPr lang="en-US" altLang="ko-KR" sz="12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휴대폰은 단계별 「이 화면 열기」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B7C70108-FFEB-40F5-B941-85CCF53DC59D}"/>
              </a:ext>
            </a:extLst>
          </p:cNvPr>
          <p:cNvSpPr/>
          <p:nvPr/>
        </p:nvSpPr>
        <p:spPr>
          <a:xfrm>
            <a:off x="609600" y="2413000"/>
            <a:ext cx="431800" cy="431800"/>
          </a:xfrm>
          <a:prstGeom prst="ellipse">
            <a:avLst/>
          </a:prstGeom>
          <a:solidFill>
            <a:srgbClr val="0B556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rIns="2540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4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7D9DE6-DBC0-4826-A9CB-EF25ADFBE68A}"/>
              </a:ext>
            </a:extLst>
          </p:cNvPr>
          <p:cNvSpPr txBox="1"/>
          <p:nvPr/>
        </p:nvSpPr>
        <p:spPr>
          <a:xfrm>
            <a:off x="1219200" y="24257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1E21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「🔄 시연 전 데이터 초기화」 한 번 누르기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273378-272C-44CA-A70D-419A2DD0DDBE}"/>
              </a:ext>
            </a:extLst>
          </p:cNvPr>
          <p:cNvSpPr txBox="1"/>
          <p:nvPr/>
        </p:nvSpPr>
        <p:spPr>
          <a:xfrm>
            <a:off x="1219200" y="26797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시연 전용 조합</a:t>
            </a:r>
            <a:r>
              <a:rPr lang="en-US" altLang="ko-KR" sz="12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(OO3</a:t>
            </a:r>
            <a:r>
              <a:rPr lang="ko-KR" altLang="en-US" sz="12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구역</a:t>
            </a:r>
            <a:r>
              <a:rPr lang="en-US" altLang="ko-KR" sz="12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2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처음 상태로 </a:t>
            </a:r>
            <a:r>
              <a:rPr lang="en-US" altLang="ko-KR" sz="12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"</a:t>
            </a:r>
            <a:r>
              <a:rPr lang="ko-KR" altLang="en-US" sz="12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초기화 완료</a:t>
            </a:r>
            <a:r>
              <a:rPr lang="en-US" altLang="ko-KR" sz="12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 </a:t>
            </a:r>
            <a:r>
              <a:rPr lang="ko-KR" altLang="en-US" sz="12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표시 확인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6123B2D-A4E4-477E-9831-68B2F68D09CA}"/>
              </a:ext>
            </a:extLst>
          </p:cNvPr>
          <p:cNvSpPr/>
          <p:nvPr/>
        </p:nvSpPr>
        <p:spPr>
          <a:xfrm>
            <a:off x="609600" y="3352800"/>
            <a:ext cx="431800" cy="431800"/>
          </a:xfrm>
          <a:prstGeom prst="ellipse">
            <a:avLst/>
          </a:prstGeom>
          <a:solidFill>
            <a:srgbClr val="0B556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rIns="2540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14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0B4EFC-71CD-42B7-A0D3-6B601630F599}"/>
              </a:ext>
            </a:extLst>
          </p:cNvPr>
          <p:cNvSpPr txBox="1"/>
          <p:nvPr/>
        </p:nvSpPr>
        <p:spPr>
          <a:xfrm>
            <a:off x="1219200" y="33655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1E21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진행 방법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B6C336-E8D2-4625-8B27-2E122042F6D5}"/>
              </a:ext>
            </a:extLst>
          </p:cNvPr>
          <p:cNvSpPr txBox="1"/>
          <p:nvPr/>
        </p:nvSpPr>
        <p:spPr>
          <a:xfrm>
            <a:off x="1219200" y="36195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 클릭 또는 키보드 ← → </a:t>
            </a:r>
            <a:r>
              <a:rPr lang="en-US" altLang="ko-KR" sz="12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단계마다 해당 계정으로 자동 로그인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FB71260-954E-4F3E-9D03-58A8EC47D7C2}"/>
              </a:ext>
            </a:extLst>
          </p:cNvPr>
          <p:cNvSpPr/>
          <p:nvPr/>
        </p:nvSpPr>
        <p:spPr>
          <a:xfrm>
            <a:off x="609600" y="4292600"/>
            <a:ext cx="431800" cy="431800"/>
          </a:xfrm>
          <a:prstGeom prst="ellipse">
            <a:avLst/>
          </a:prstGeom>
          <a:solidFill>
            <a:srgbClr val="0B556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rIns="2540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14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E4B549-5AA1-42D1-AE98-AF989661CC0B}"/>
              </a:ext>
            </a:extLst>
          </p:cNvPr>
          <p:cNvSpPr txBox="1"/>
          <p:nvPr/>
        </p:nvSpPr>
        <p:spPr>
          <a:xfrm>
            <a:off x="1219200" y="43053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1E21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휴대폰 화면 보여주기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0022D9-99CA-45F2-83B8-AC4B9915CC85}"/>
              </a:ext>
            </a:extLst>
          </p:cNvPr>
          <p:cNvSpPr txBox="1"/>
          <p:nvPr/>
        </p:nvSpPr>
        <p:spPr>
          <a:xfrm>
            <a:off x="1219200" y="45593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상단 「휴대폰」 버튼 → 조합원 화면을 휴대폰 크기로 표시 </a:t>
            </a:r>
            <a:r>
              <a:rPr lang="en-US" altLang="ko-KR" sz="12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큰 글씨 기본</a:t>
            </a:r>
            <a:r>
              <a:rPr lang="en-US" altLang="ko-KR" sz="12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200">
              <a:solidFill>
                <a:srgbClr val="464C5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08C36CEC-4D13-4E4E-8171-2C7EA47347E4}"/>
              </a:ext>
            </a:extLst>
          </p:cNvPr>
          <p:cNvSpPr/>
          <p:nvPr/>
        </p:nvSpPr>
        <p:spPr>
          <a:xfrm>
            <a:off x="609600" y="5232400"/>
            <a:ext cx="431800" cy="431800"/>
          </a:xfrm>
          <a:prstGeom prst="ellipse">
            <a:avLst/>
          </a:prstGeom>
          <a:solidFill>
            <a:srgbClr val="0B556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rIns="2540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14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DCFB65-3AF1-4187-8932-7A9AFD368BCA}"/>
              </a:ext>
            </a:extLst>
          </p:cNvPr>
          <p:cNvSpPr txBox="1"/>
          <p:nvPr/>
        </p:nvSpPr>
        <p:spPr>
          <a:xfrm>
            <a:off x="1219200" y="52451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1E21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인터넷이 안 될 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2AEA2C-D210-4ADF-B79D-4F3EED9C6945}"/>
              </a:ext>
            </a:extLst>
          </p:cNvPr>
          <p:cNvSpPr txBox="1"/>
          <p:nvPr/>
        </p:nvSpPr>
        <p:spPr>
          <a:xfrm>
            <a:off x="1219200" y="54991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</a:t>
            </a:r>
            <a:r>
              <a:rPr lang="en-US" altLang="ko-KR" sz="12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PPT</a:t>
            </a:r>
            <a:r>
              <a:rPr lang="ko-KR" altLang="en-US" sz="12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2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3~14</a:t>
            </a:r>
            <a:r>
              <a:rPr lang="ko-KR" altLang="en-US" sz="12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쪽 화면 캡처로 같은 순서로 설명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248B8E-847C-4EC4-82F4-480FF7D0723C}"/>
              </a:ext>
            </a:extLst>
          </p:cNvPr>
          <p:cNvSpPr txBox="1"/>
          <p:nvPr/>
        </p:nvSpPr>
        <p:spPr>
          <a:xfrm>
            <a:off x="609600" y="65278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조합</a:t>
            </a:r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ONE · </a:t>
            </a:r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영업 시연 시나리오 대본 </a:t>
            </a:r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수치는 시연용 예시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4CBDDC-F6D3-437F-B5EB-F1BEA1A7FD8F}"/>
              </a:ext>
            </a:extLst>
          </p:cNvPr>
          <p:cNvSpPr txBox="1"/>
          <p:nvPr/>
        </p:nvSpPr>
        <p:spPr>
          <a:xfrm>
            <a:off x="10820400" y="6527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>
              <a:solidFill>
                <a:srgbClr val="5F6B7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7566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0CD9013-E0FB-40AE-AB7A-2491C19B2E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601"/>
          <a:stretch>
            <a:fillRect/>
          </a:stretch>
        </p:blipFill>
        <p:spPr>
          <a:xfrm>
            <a:off x="609600" y="1562100"/>
            <a:ext cx="7112000" cy="4445000"/>
          </a:xfrm>
          <a:prstGeom prst="rect">
            <a:avLst/>
          </a:prstGeom>
          <a:ln w="12700">
            <a:solidFill>
              <a:srgbClr val="D6DCE0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FC03E3-5C7D-4790-8622-F4133AA79BB0}"/>
              </a:ext>
            </a:extLst>
          </p:cNvPr>
          <p:cNvSpPr txBox="1"/>
          <p:nvPr/>
        </p:nvSpPr>
        <p:spPr>
          <a:xfrm>
            <a:off x="609600" y="3810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3B4A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</a:t>
            </a:r>
            <a:r>
              <a:rPr lang="en-US" altLang="ko-KR" sz="1200" b="1">
                <a:solidFill>
                  <a:srgbClr val="3B4A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b="1">
                <a:solidFill>
                  <a:srgbClr val="3B4A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 담당자 </a:t>
            </a:r>
            <a:r>
              <a:rPr lang="en-US" altLang="ko-KR" sz="1200" b="1">
                <a:solidFill>
                  <a:srgbClr val="3B4A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1 / 12</a:t>
            </a:r>
            <a:endParaRPr lang="ko-KR" altLang="en-US" sz="1200" b="1">
              <a:solidFill>
                <a:srgbClr val="3B4A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EBCA76-862D-43DF-B20C-5F937FF3AC40}"/>
              </a:ext>
            </a:extLst>
          </p:cNvPr>
          <p:cNvSpPr txBox="1"/>
          <p:nvPr/>
        </p:nvSpPr>
        <p:spPr>
          <a:xfrm>
            <a:off x="609600" y="6350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600" b="1">
                <a:solidFill>
                  <a:srgbClr val="1E21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관할 조합을 한 화면에서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286F41-5D15-4587-B920-F897D028CE79}"/>
              </a:ext>
            </a:extLst>
          </p:cNvPr>
          <p:cNvSpPr txBox="1"/>
          <p:nvPr/>
        </p:nvSpPr>
        <p:spPr>
          <a:xfrm>
            <a:off x="8077200" y="1270000"/>
            <a:ext cx="350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조합</a:t>
            </a:r>
            <a:r>
              <a:rPr lang="en-US" altLang="ko-KR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ONE</a:t>
            </a:r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쓰는 관할 조합 현황이</a:t>
            </a:r>
            <a:b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실시간으로 모입니다</a:t>
            </a:r>
            <a:r>
              <a:rPr lang="en-US" altLang="ko-KR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500">
              <a:solidFill>
                <a:srgbClr val="464C5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02475F9-BC90-4EB9-8225-4D329C49DFD6}"/>
              </a:ext>
            </a:extLst>
          </p:cNvPr>
          <p:cNvSpPr/>
          <p:nvPr/>
        </p:nvSpPr>
        <p:spPr>
          <a:xfrm>
            <a:off x="8077200" y="2438400"/>
            <a:ext cx="3505200" cy="685800"/>
          </a:xfrm>
          <a:prstGeom prst="roundRect">
            <a:avLst>
              <a:gd name="adj" fmla="val 8000"/>
            </a:avLst>
          </a:prstGeom>
          <a:solidFill>
            <a:srgbClr val="E6F1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5FADE3-7571-4CFE-A867-2689D61CBE61}"/>
              </a:ext>
            </a:extLst>
          </p:cNvPr>
          <p:cNvSpPr txBox="1"/>
          <p:nvPr/>
        </p:nvSpPr>
        <p:spPr>
          <a:xfrm>
            <a:off x="8255000" y="25527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정보공개 지연</a:t>
            </a:r>
            <a:r>
              <a:rPr lang="en-US" altLang="ko-KR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교육 미이수</a:t>
            </a:r>
            <a:r>
              <a:rPr lang="en-US" altLang="ko-KR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입찰 보완</a:t>
            </a:r>
            <a:b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건수를 조합별 표시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8A1932F-0B8F-4C7A-BF11-71E5B62254DD}"/>
              </a:ext>
            </a:extLst>
          </p:cNvPr>
          <p:cNvSpPr/>
          <p:nvPr/>
        </p:nvSpPr>
        <p:spPr>
          <a:xfrm>
            <a:off x="8077200" y="3251200"/>
            <a:ext cx="3505200" cy="685800"/>
          </a:xfrm>
          <a:prstGeom prst="roundRect">
            <a:avLst>
              <a:gd name="adj" fmla="val 8000"/>
            </a:avLst>
          </a:prstGeom>
          <a:solidFill>
            <a:srgbClr val="E6F1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DACCAA-5E0B-4CB8-AC08-A13630812A71}"/>
              </a:ext>
            </a:extLst>
          </p:cNvPr>
          <p:cNvSpPr txBox="1"/>
          <p:nvPr/>
        </p:nvSpPr>
        <p:spPr>
          <a:xfrm>
            <a:off x="8255000" y="33655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담당자는 열람만 가능 </a:t>
            </a:r>
            <a:r>
              <a:rPr lang="en-US" altLang="ko-KR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수정</a:t>
            </a:r>
            <a:r>
              <a:rPr lang="en-US" altLang="ko-KR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  <a:b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불가</a:t>
            </a:r>
            <a:r>
              <a:rPr lang="en-US" altLang="ko-KR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300" b="1">
              <a:solidFill>
                <a:srgbClr val="08434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11C859-343D-45A4-9EAF-E4EA3F83EC2C}"/>
              </a:ext>
            </a:extLst>
          </p:cNvPr>
          <p:cNvSpPr txBox="1"/>
          <p:nvPr/>
        </p:nvSpPr>
        <p:spPr>
          <a:xfrm>
            <a:off x="8077200" y="4140200"/>
            <a:ext cx="350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근거</a:t>
            </a:r>
            <a:r>
              <a:rPr lang="en-US" altLang="ko-KR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법 제</a:t>
            </a:r>
            <a:r>
              <a:rPr lang="en-US" altLang="ko-KR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111</a:t>
            </a:r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</a:t>
            </a:r>
            <a:r>
              <a:rPr lang="en-US" altLang="ko-KR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113</a:t>
            </a:r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 업무 지원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FFBD4B-7E07-4E79-AEBC-DACFCAAF51B5}"/>
              </a:ext>
            </a:extLst>
          </p:cNvPr>
          <p:cNvSpPr txBox="1"/>
          <p:nvPr/>
        </p:nvSpPr>
        <p:spPr>
          <a:xfrm>
            <a:off x="609600" y="65278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조합</a:t>
            </a:r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ONE · </a:t>
            </a:r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영업 시연 시나리오 대본 </a:t>
            </a:r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수치는 시연용 예시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4427BB-C624-4AE3-B16A-AB9B30BC1706}"/>
              </a:ext>
            </a:extLst>
          </p:cNvPr>
          <p:cNvSpPr txBox="1"/>
          <p:nvPr/>
        </p:nvSpPr>
        <p:spPr>
          <a:xfrm>
            <a:off x="10820400" y="6527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>
              <a:solidFill>
                <a:srgbClr val="5F6B7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9436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3CA2C1D-10CC-4048-9765-FCEAFA9858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601"/>
          <a:stretch>
            <a:fillRect/>
          </a:stretch>
        </p:blipFill>
        <p:spPr>
          <a:xfrm>
            <a:off x="609600" y="1562100"/>
            <a:ext cx="7112000" cy="4445000"/>
          </a:xfrm>
          <a:prstGeom prst="rect">
            <a:avLst/>
          </a:prstGeom>
          <a:ln w="12700">
            <a:solidFill>
              <a:srgbClr val="D6DCE0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88E354-A66A-40C3-8447-6445F71BB133}"/>
              </a:ext>
            </a:extLst>
          </p:cNvPr>
          <p:cNvSpPr txBox="1"/>
          <p:nvPr/>
        </p:nvSpPr>
        <p:spPr>
          <a:xfrm>
            <a:off x="609600" y="3810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3B4A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</a:t>
            </a:r>
            <a:r>
              <a:rPr lang="en-US" altLang="ko-KR" sz="1200" b="1">
                <a:solidFill>
                  <a:srgbClr val="3B4A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b="1">
                <a:solidFill>
                  <a:srgbClr val="3B4A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 담당자 </a:t>
            </a:r>
            <a:r>
              <a:rPr lang="en-US" altLang="ko-KR" sz="1200" b="1">
                <a:solidFill>
                  <a:srgbClr val="3B4A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2 / 12</a:t>
            </a:r>
            <a:endParaRPr lang="ko-KR" altLang="en-US" sz="1200" b="1">
              <a:solidFill>
                <a:srgbClr val="3B4A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391882-A057-4109-9C61-0D3F530F8CC1}"/>
              </a:ext>
            </a:extLst>
          </p:cNvPr>
          <p:cNvSpPr txBox="1"/>
          <p:nvPr/>
        </p:nvSpPr>
        <p:spPr>
          <a:xfrm>
            <a:off x="609600" y="6350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600" b="1">
                <a:solidFill>
                  <a:srgbClr val="1E21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정보공개 </a:t>
            </a:r>
            <a:r>
              <a:rPr lang="en-US" altLang="ko-KR" sz="2600" b="1">
                <a:solidFill>
                  <a:srgbClr val="1E21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r>
              <a:rPr lang="ko-KR" altLang="en-US" sz="2600" b="1">
                <a:solidFill>
                  <a:srgbClr val="1E21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 기한 자동 점검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9DCF09-3CA0-4338-9793-85B171099206}"/>
              </a:ext>
            </a:extLst>
          </p:cNvPr>
          <p:cNvSpPr txBox="1"/>
          <p:nvPr/>
        </p:nvSpPr>
        <p:spPr>
          <a:xfrm>
            <a:off x="8077200" y="1270000"/>
            <a:ext cx="350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자료 작성</a:t>
            </a:r>
            <a:r>
              <a:rPr lang="en-US" altLang="ko-KR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변경일부터 </a:t>
            </a:r>
            <a:r>
              <a:rPr lang="en-US" altLang="ko-KR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 공개</a:t>
            </a:r>
            <a:b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기한을 자동 계산해 초과</a:t>
            </a:r>
            <a:r>
              <a:rPr lang="en-US" altLang="ko-KR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임박 순으로</a:t>
            </a:r>
            <a:b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보여줍니다</a:t>
            </a:r>
            <a:r>
              <a:rPr lang="en-US" altLang="ko-KR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500">
              <a:solidFill>
                <a:srgbClr val="464C5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2559AA1-A963-4772-831A-B55A88395F57}"/>
              </a:ext>
            </a:extLst>
          </p:cNvPr>
          <p:cNvSpPr/>
          <p:nvPr/>
        </p:nvSpPr>
        <p:spPr>
          <a:xfrm>
            <a:off x="8077200" y="2438400"/>
            <a:ext cx="3505200" cy="685800"/>
          </a:xfrm>
          <a:prstGeom prst="roundRect">
            <a:avLst>
              <a:gd name="adj" fmla="val 8000"/>
            </a:avLst>
          </a:prstGeom>
          <a:solidFill>
            <a:srgbClr val="E6F1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82605A-FA92-4C43-A29D-9787616F9409}"/>
              </a:ext>
            </a:extLst>
          </p:cNvPr>
          <p:cNvSpPr txBox="1"/>
          <p:nvPr/>
        </p:nvSpPr>
        <p:spPr>
          <a:xfrm>
            <a:off x="8255000" y="25527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민원 전에 지연을 먼저 확인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2D89BC8-D6B1-4120-9198-E25A64793711}"/>
              </a:ext>
            </a:extLst>
          </p:cNvPr>
          <p:cNvSpPr/>
          <p:nvPr/>
        </p:nvSpPr>
        <p:spPr>
          <a:xfrm>
            <a:off x="8077200" y="3251200"/>
            <a:ext cx="3505200" cy="685800"/>
          </a:xfrm>
          <a:prstGeom prst="roundRect">
            <a:avLst>
              <a:gd name="adj" fmla="val 8000"/>
            </a:avLst>
          </a:prstGeom>
          <a:solidFill>
            <a:srgbClr val="E6F1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73F639-81E9-44C0-8781-D9C38753FD24}"/>
              </a:ext>
            </a:extLst>
          </p:cNvPr>
          <p:cNvSpPr txBox="1"/>
          <p:nvPr/>
        </p:nvSpPr>
        <p:spPr>
          <a:xfrm>
            <a:off x="8255000" y="33655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조합별 원문 바로 열람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187AD5-9883-407B-81C1-BD3274C46498}"/>
              </a:ext>
            </a:extLst>
          </p:cNvPr>
          <p:cNvSpPr txBox="1"/>
          <p:nvPr/>
        </p:nvSpPr>
        <p:spPr>
          <a:xfrm>
            <a:off x="8077200" y="4140200"/>
            <a:ext cx="350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근거</a:t>
            </a:r>
            <a:r>
              <a:rPr lang="en-US" altLang="ko-KR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법 제</a:t>
            </a:r>
            <a:r>
              <a:rPr lang="en-US" altLang="ko-KR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124</a:t>
            </a:r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37883E-9FF7-4102-8378-B04B4710C223}"/>
              </a:ext>
            </a:extLst>
          </p:cNvPr>
          <p:cNvSpPr txBox="1"/>
          <p:nvPr/>
        </p:nvSpPr>
        <p:spPr>
          <a:xfrm>
            <a:off x="609600" y="65278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조합</a:t>
            </a:r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ONE · </a:t>
            </a:r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영업 시연 시나리오 대본 </a:t>
            </a:r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수치는 시연용 예시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DDCD42-22B6-4C0E-976B-D4F2C0AEF796}"/>
              </a:ext>
            </a:extLst>
          </p:cNvPr>
          <p:cNvSpPr txBox="1"/>
          <p:nvPr/>
        </p:nvSpPr>
        <p:spPr>
          <a:xfrm>
            <a:off x="10820400" y="6527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900">
              <a:solidFill>
                <a:srgbClr val="5F6B7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35187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B53E182-068D-499B-96FF-49ACFDE312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601"/>
          <a:stretch>
            <a:fillRect/>
          </a:stretch>
        </p:blipFill>
        <p:spPr>
          <a:xfrm>
            <a:off x="609600" y="1562100"/>
            <a:ext cx="7112000" cy="4445000"/>
          </a:xfrm>
          <a:prstGeom prst="rect">
            <a:avLst/>
          </a:prstGeom>
          <a:ln w="12700">
            <a:solidFill>
              <a:srgbClr val="D6DCE0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1B2769-564E-4741-9AED-D576DB6FD600}"/>
              </a:ext>
            </a:extLst>
          </p:cNvPr>
          <p:cNvSpPr txBox="1"/>
          <p:nvPr/>
        </p:nvSpPr>
        <p:spPr>
          <a:xfrm>
            <a:off x="609600" y="3810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3B4A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</a:t>
            </a:r>
            <a:r>
              <a:rPr lang="en-US" altLang="ko-KR" sz="1200" b="1">
                <a:solidFill>
                  <a:srgbClr val="3B4A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b="1">
                <a:solidFill>
                  <a:srgbClr val="3B4A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 담당자 </a:t>
            </a:r>
            <a:r>
              <a:rPr lang="en-US" altLang="ko-KR" sz="1200" b="1">
                <a:solidFill>
                  <a:srgbClr val="3B4A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3 / 12</a:t>
            </a:r>
            <a:endParaRPr lang="ko-KR" altLang="en-US" sz="1200" b="1">
              <a:solidFill>
                <a:srgbClr val="3B4A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004027-C1CC-4C3C-BBD8-0EE0CE11F00F}"/>
              </a:ext>
            </a:extLst>
          </p:cNvPr>
          <p:cNvSpPr txBox="1"/>
          <p:nvPr/>
        </p:nvSpPr>
        <p:spPr>
          <a:xfrm>
            <a:off x="609600" y="6350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600" b="1">
                <a:solidFill>
                  <a:srgbClr val="1E21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임원 교육 이수 관리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3CD7C8-58C3-4CD2-8053-7A265BA24C74}"/>
              </a:ext>
            </a:extLst>
          </p:cNvPr>
          <p:cNvSpPr txBox="1"/>
          <p:nvPr/>
        </p:nvSpPr>
        <p:spPr>
          <a:xfrm>
            <a:off x="8077200" y="1270000"/>
            <a:ext cx="350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임원은 선임 후 </a:t>
            </a:r>
            <a:r>
              <a:rPr lang="en-US" altLang="ko-KR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 내 </a:t>
            </a:r>
            <a:r>
              <a:rPr lang="en-US" altLang="ko-KR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</a:t>
            </a:r>
            <a:b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교육 이수</a:t>
            </a:r>
            <a:r>
              <a:rPr lang="en-US" altLang="ko-KR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지자체는 참여 현황 관리</a:t>
            </a:r>
            <a:b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의무</a:t>
            </a:r>
            <a:r>
              <a:rPr lang="en-US" altLang="ko-KR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500">
              <a:solidFill>
                <a:srgbClr val="464C5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148E9C1-3F5C-445E-BC85-B575CA1C4433}"/>
              </a:ext>
            </a:extLst>
          </p:cNvPr>
          <p:cNvSpPr/>
          <p:nvPr/>
        </p:nvSpPr>
        <p:spPr>
          <a:xfrm>
            <a:off x="8077200" y="2438400"/>
            <a:ext cx="3505200" cy="685800"/>
          </a:xfrm>
          <a:prstGeom prst="roundRect">
            <a:avLst>
              <a:gd name="adj" fmla="val 8000"/>
            </a:avLst>
          </a:prstGeom>
          <a:solidFill>
            <a:srgbClr val="E6F1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AD8134-C98A-4124-AFB6-FD7A9AAC2EF7}"/>
              </a:ext>
            </a:extLst>
          </p:cNvPr>
          <p:cNvSpPr txBox="1"/>
          <p:nvPr/>
        </p:nvSpPr>
        <p:spPr>
          <a:xfrm>
            <a:off x="8255000" y="25527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임원별 기한</a:t>
            </a:r>
            <a:r>
              <a:rPr lang="en-US" altLang="ko-KR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인정 시간</a:t>
            </a:r>
            <a:r>
              <a:rPr lang="en-US" altLang="ko-KR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상태 자동 계산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63C46FB-7214-41F0-B9AB-D9FC76716839}"/>
              </a:ext>
            </a:extLst>
          </p:cNvPr>
          <p:cNvSpPr/>
          <p:nvPr/>
        </p:nvSpPr>
        <p:spPr>
          <a:xfrm>
            <a:off x="8077200" y="3251200"/>
            <a:ext cx="3505200" cy="685800"/>
          </a:xfrm>
          <a:prstGeom prst="roundRect">
            <a:avLst>
              <a:gd name="adj" fmla="val 8000"/>
            </a:avLst>
          </a:prstGeom>
          <a:solidFill>
            <a:srgbClr val="E6F1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58D1C8-2F37-4363-9014-48D4C0AA6367}"/>
              </a:ext>
            </a:extLst>
          </p:cNvPr>
          <p:cNvSpPr txBox="1"/>
          <p:nvPr/>
        </p:nvSpPr>
        <p:spPr>
          <a:xfrm>
            <a:off x="8255000" y="33655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기한 초과</a:t>
            </a:r>
            <a:r>
              <a:rPr lang="en-US" altLang="ko-KR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임박 임원을 관할 전체에서</a:t>
            </a:r>
            <a:b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 번에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F77B7C-1379-4779-ACD0-55A4C593C959}"/>
              </a:ext>
            </a:extLst>
          </p:cNvPr>
          <p:cNvSpPr txBox="1"/>
          <p:nvPr/>
        </p:nvSpPr>
        <p:spPr>
          <a:xfrm>
            <a:off x="8077200" y="4140200"/>
            <a:ext cx="350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근거</a:t>
            </a:r>
            <a:r>
              <a:rPr lang="en-US" altLang="ko-KR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시행령 제</a:t>
            </a:r>
            <a:r>
              <a:rPr lang="en-US" altLang="ko-KR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6106C7-20C2-4B92-8403-5BC1C722830C}"/>
              </a:ext>
            </a:extLst>
          </p:cNvPr>
          <p:cNvSpPr txBox="1"/>
          <p:nvPr/>
        </p:nvSpPr>
        <p:spPr>
          <a:xfrm>
            <a:off x="609600" y="65278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조합</a:t>
            </a:r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ONE · </a:t>
            </a:r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영업 시연 시나리오 대본 </a:t>
            </a:r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수치는 시연용 예시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76B3A8-085D-4810-867C-2D7C3F274803}"/>
              </a:ext>
            </a:extLst>
          </p:cNvPr>
          <p:cNvSpPr txBox="1"/>
          <p:nvPr/>
        </p:nvSpPr>
        <p:spPr>
          <a:xfrm>
            <a:off x="10820400" y="6527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900">
              <a:solidFill>
                <a:srgbClr val="5F6B7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9309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9AD14CE-A8AA-4751-B069-1B8B214E0C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601"/>
          <a:stretch>
            <a:fillRect/>
          </a:stretch>
        </p:blipFill>
        <p:spPr>
          <a:xfrm>
            <a:off x="609600" y="1562100"/>
            <a:ext cx="7112000" cy="4445000"/>
          </a:xfrm>
          <a:prstGeom prst="rect">
            <a:avLst/>
          </a:prstGeom>
          <a:ln w="12700">
            <a:solidFill>
              <a:srgbClr val="D6DCE0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3405392-046A-41E5-943D-39A7909195D2}"/>
              </a:ext>
            </a:extLst>
          </p:cNvPr>
          <p:cNvSpPr txBox="1"/>
          <p:nvPr/>
        </p:nvSpPr>
        <p:spPr>
          <a:xfrm>
            <a:off x="609600" y="3810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3B4A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</a:t>
            </a:r>
            <a:r>
              <a:rPr lang="en-US" altLang="ko-KR" sz="1200" b="1">
                <a:solidFill>
                  <a:srgbClr val="3B4A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b="1">
                <a:solidFill>
                  <a:srgbClr val="3B4A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 담당자 </a:t>
            </a:r>
            <a:r>
              <a:rPr lang="en-US" altLang="ko-KR" sz="1200" b="1">
                <a:solidFill>
                  <a:srgbClr val="3B4A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4 / 12</a:t>
            </a:r>
            <a:endParaRPr lang="ko-KR" altLang="en-US" sz="1200" b="1">
              <a:solidFill>
                <a:srgbClr val="3B4A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28F0F8-C8EC-45E9-9235-1DF9A8D63B17}"/>
              </a:ext>
            </a:extLst>
          </p:cNvPr>
          <p:cNvSpPr txBox="1"/>
          <p:nvPr/>
        </p:nvSpPr>
        <p:spPr>
          <a:xfrm>
            <a:off x="609600" y="6350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600" b="1">
                <a:solidFill>
                  <a:srgbClr val="1E21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입찰공고 법정 요건 점검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7930AF-37D1-445D-897F-A7F7FC76C1E4}"/>
              </a:ext>
            </a:extLst>
          </p:cNvPr>
          <p:cNvSpPr txBox="1"/>
          <p:nvPr/>
        </p:nvSpPr>
        <p:spPr>
          <a:xfrm>
            <a:off x="8077200" y="1270000"/>
            <a:ext cx="350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협력업체</a:t>
            </a:r>
            <a:r>
              <a:rPr lang="en-US" altLang="ko-KR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시공자 선정 입찰이 계약</a:t>
            </a:r>
            <a:b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방식</a:t>
            </a:r>
            <a:r>
              <a:rPr lang="en-US" altLang="ko-KR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금액 기준에 맞는지 자동 점검</a:t>
            </a:r>
            <a:r>
              <a:rPr lang="en-US" altLang="ko-KR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500">
              <a:solidFill>
                <a:srgbClr val="464C5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78E8A4E-E4F7-436A-8577-80FC61746732}"/>
              </a:ext>
            </a:extLst>
          </p:cNvPr>
          <p:cNvSpPr/>
          <p:nvPr/>
        </p:nvSpPr>
        <p:spPr>
          <a:xfrm>
            <a:off x="8077200" y="2438400"/>
            <a:ext cx="3505200" cy="685800"/>
          </a:xfrm>
          <a:prstGeom prst="roundRect">
            <a:avLst>
              <a:gd name="adj" fmla="val 8000"/>
            </a:avLst>
          </a:prstGeom>
          <a:solidFill>
            <a:srgbClr val="E6F1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A1E375-B504-4A6C-B825-11134AE16698}"/>
              </a:ext>
            </a:extLst>
          </p:cNvPr>
          <p:cNvSpPr txBox="1"/>
          <p:nvPr/>
        </p:nvSpPr>
        <p:spPr>
          <a:xfrm>
            <a:off x="8255000" y="25527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수의계약</a:t>
            </a:r>
            <a:r>
              <a:rPr lang="en-US" altLang="ko-KR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지명경쟁 금액 한도</a:t>
            </a:r>
            <a:r>
              <a:rPr lang="en-US" altLang="ko-KR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br>
              <a:rPr lang="en-US" altLang="ko-KR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전자조달 의무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8F3A1B6-643E-4AEC-BEC6-A19DAB3E6D64}"/>
              </a:ext>
            </a:extLst>
          </p:cNvPr>
          <p:cNvSpPr/>
          <p:nvPr/>
        </p:nvSpPr>
        <p:spPr>
          <a:xfrm>
            <a:off x="8077200" y="3251200"/>
            <a:ext cx="3505200" cy="685800"/>
          </a:xfrm>
          <a:prstGeom prst="roundRect">
            <a:avLst>
              <a:gd name="adj" fmla="val 8000"/>
            </a:avLst>
          </a:prstGeom>
          <a:solidFill>
            <a:srgbClr val="E6F1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BBEB1D-F489-45F3-8F7E-CB2BD74FE0AD}"/>
              </a:ext>
            </a:extLst>
          </p:cNvPr>
          <p:cNvSpPr txBox="1"/>
          <p:nvPr/>
        </p:nvSpPr>
        <p:spPr>
          <a:xfrm>
            <a:off x="8255000" y="33655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시공자</a:t>
            </a:r>
            <a:r>
              <a:rPr lang="en-US" altLang="ko-KR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조합설립인가 후 </a:t>
            </a:r>
            <a:r>
              <a:rPr lang="en-US" altLang="ko-KR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2</a:t>
            </a: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 유찰</a:t>
            </a:r>
            <a:b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합동설명회 </a:t>
            </a:r>
            <a:r>
              <a:rPr lang="en-US" altLang="ko-KR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8B22B0-C89C-4577-9852-C5DEA513997B}"/>
              </a:ext>
            </a:extLst>
          </p:cNvPr>
          <p:cNvSpPr txBox="1"/>
          <p:nvPr/>
        </p:nvSpPr>
        <p:spPr>
          <a:xfrm>
            <a:off x="8077200" y="4140200"/>
            <a:ext cx="350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근거</a:t>
            </a:r>
            <a:r>
              <a:rPr lang="en-US" altLang="ko-KR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법 제</a:t>
            </a:r>
            <a:r>
              <a:rPr lang="en-US" altLang="ko-KR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29</a:t>
            </a:r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</a:t>
            </a:r>
            <a:r>
              <a:rPr lang="en-US" altLang="ko-KR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시행령 제</a:t>
            </a:r>
            <a:r>
              <a:rPr lang="en-US" altLang="ko-KR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24</a:t>
            </a:r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0967C2-8AC0-4B01-B674-8005D6F0169E}"/>
              </a:ext>
            </a:extLst>
          </p:cNvPr>
          <p:cNvSpPr txBox="1"/>
          <p:nvPr/>
        </p:nvSpPr>
        <p:spPr>
          <a:xfrm>
            <a:off x="609600" y="65278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조합</a:t>
            </a:r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ONE · </a:t>
            </a:r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영업 시연 시나리오 대본 </a:t>
            </a:r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수치는 시연용 예시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0E168C-E492-4B29-B01B-84A9E49F31C2}"/>
              </a:ext>
            </a:extLst>
          </p:cNvPr>
          <p:cNvSpPr txBox="1"/>
          <p:nvPr/>
        </p:nvSpPr>
        <p:spPr>
          <a:xfrm>
            <a:off x="10820400" y="6527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900">
              <a:solidFill>
                <a:srgbClr val="5F6B7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9184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1554240-243D-4036-944D-7C35DA33F8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601"/>
          <a:stretch>
            <a:fillRect/>
          </a:stretch>
        </p:blipFill>
        <p:spPr>
          <a:xfrm>
            <a:off x="609600" y="1562100"/>
            <a:ext cx="7112000" cy="4445000"/>
          </a:xfrm>
          <a:prstGeom prst="rect">
            <a:avLst/>
          </a:prstGeom>
          <a:ln w="12700">
            <a:solidFill>
              <a:srgbClr val="D6DCE0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41FDC4-FEC2-4FAC-91F2-60B05D391CA7}"/>
              </a:ext>
            </a:extLst>
          </p:cNvPr>
          <p:cNvSpPr txBox="1"/>
          <p:nvPr/>
        </p:nvSpPr>
        <p:spPr>
          <a:xfrm>
            <a:off x="609600" y="3810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C2410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조합장 </a:t>
            </a:r>
            <a:r>
              <a:rPr lang="en-US" altLang="ko-KR" sz="1200" b="1">
                <a:solidFill>
                  <a:srgbClr val="C2410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5 / 12</a:t>
            </a:r>
            <a:endParaRPr lang="ko-KR" altLang="en-US" sz="1200" b="1">
              <a:solidFill>
                <a:srgbClr val="C2410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EFC560-EC04-443C-AE3D-DB49011DC089}"/>
              </a:ext>
            </a:extLst>
          </p:cNvPr>
          <p:cNvSpPr txBox="1"/>
          <p:nvPr/>
        </p:nvSpPr>
        <p:spPr>
          <a:xfrm>
            <a:off x="609600" y="6350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600" b="1">
                <a:solidFill>
                  <a:srgbClr val="1E21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조합 사무국 대시보드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45CE9F-B037-461B-AA36-77525395E84B}"/>
              </a:ext>
            </a:extLst>
          </p:cNvPr>
          <p:cNvSpPr txBox="1"/>
          <p:nvPr/>
        </p:nvSpPr>
        <p:spPr>
          <a:xfrm>
            <a:off x="8077200" y="1270000"/>
            <a:ext cx="350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조합장</a:t>
            </a:r>
            <a:r>
              <a:rPr lang="en-US" altLang="ko-KR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사무국은 처리할 일과 비용</a:t>
            </a:r>
            <a:b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절감 효과를 첫 화면에서 봅니다</a:t>
            </a:r>
            <a:r>
              <a:rPr lang="en-US" altLang="ko-KR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500">
              <a:solidFill>
                <a:srgbClr val="464C5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E06CA8B-A2DC-4D62-9524-899C83D3DAD1}"/>
              </a:ext>
            </a:extLst>
          </p:cNvPr>
          <p:cNvSpPr/>
          <p:nvPr/>
        </p:nvSpPr>
        <p:spPr>
          <a:xfrm>
            <a:off x="8077200" y="2438400"/>
            <a:ext cx="3505200" cy="685800"/>
          </a:xfrm>
          <a:prstGeom prst="roundRect">
            <a:avLst>
              <a:gd name="adj" fmla="val 8000"/>
            </a:avLst>
          </a:prstGeom>
          <a:solidFill>
            <a:srgbClr val="E6F1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0FA3A0-3289-416B-B453-073F5E3DE27A}"/>
              </a:ext>
            </a:extLst>
          </p:cNvPr>
          <p:cNvSpPr txBox="1"/>
          <p:nvPr/>
        </p:nvSpPr>
        <p:spPr>
          <a:xfrm>
            <a:off x="8255000" y="25527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동의율</a:t>
            </a:r>
            <a:r>
              <a:rPr lang="en-US" altLang="ko-KR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투표 참여</a:t>
            </a:r>
            <a:r>
              <a:rPr lang="en-US" altLang="ko-KR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신분증 미제출 등</a:t>
            </a:r>
            <a:b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핵심 숫자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2824266-2709-4559-A896-78D44D2F140A}"/>
              </a:ext>
            </a:extLst>
          </p:cNvPr>
          <p:cNvSpPr/>
          <p:nvPr/>
        </p:nvSpPr>
        <p:spPr>
          <a:xfrm>
            <a:off x="8077200" y="3251200"/>
            <a:ext cx="3505200" cy="685800"/>
          </a:xfrm>
          <a:prstGeom prst="roundRect">
            <a:avLst>
              <a:gd name="adj" fmla="val 8000"/>
            </a:avLst>
          </a:prstGeom>
          <a:solidFill>
            <a:srgbClr val="E6F1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017E91-97A9-46FA-8349-D9243140AC2A}"/>
              </a:ext>
            </a:extLst>
          </p:cNvPr>
          <p:cNvSpPr txBox="1"/>
          <p:nvPr/>
        </p:nvSpPr>
        <p:spPr>
          <a:xfrm>
            <a:off x="8255000" y="33655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처리할 일</a:t>
            </a:r>
            <a:r>
              <a:rPr lang="en-US" altLang="ko-KR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  <a:r>
              <a:rPr lang="en-US" altLang="ko-KR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공개 대기</a:t>
            </a:r>
            <a:r>
              <a:rPr lang="en-US" altLang="ko-KR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교육</a:t>
            </a:r>
            <a:b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기한</a:t>
            </a:r>
            <a:r>
              <a:rPr lang="en-US" altLang="ko-KR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서면결의서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DC6608-E6DC-4727-835D-DBA38B3A827B}"/>
              </a:ext>
            </a:extLst>
          </p:cNvPr>
          <p:cNvSpPr txBox="1"/>
          <p:nvPr/>
        </p:nvSpPr>
        <p:spPr>
          <a:xfrm>
            <a:off x="609600" y="65278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조합</a:t>
            </a:r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ONE · </a:t>
            </a:r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영업 시연 시나리오 대본 </a:t>
            </a:r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수치는 시연용 예시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98CC53-7A21-4E3C-AACE-0EC2C2FC9370}"/>
              </a:ext>
            </a:extLst>
          </p:cNvPr>
          <p:cNvSpPr txBox="1"/>
          <p:nvPr/>
        </p:nvSpPr>
        <p:spPr>
          <a:xfrm>
            <a:off x="10820400" y="6527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lang="ko-KR" altLang="en-US" sz="900">
              <a:solidFill>
                <a:srgbClr val="5F6B7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5007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419FA8D-6685-4A43-9831-896F6DD975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601"/>
          <a:stretch>
            <a:fillRect/>
          </a:stretch>
        </p:blipFill>
        <p:spPr>
          <a:xfrm>
            <a:off x="609600" y="1562100"/>
            <a:ext cx="7112000" cy="4445000"/>
          </a:xfrm>
          <a:prstGeom prst="rect">
            <a:avLst/>
          </a:prstGeom>
          <a:ln w="12700">
            <a:solidFill>
              <a:srgbClr val="D6DCE0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0AC4B52-326C-4FB7-B45B-823218891A59}"/>
              </a:ext>
            </a:extLst>
          </p:cNvPr>
          <p:cNvSpPr txBox="1"/>
          <p:nvPr/>
        </p:nvSpPr>
        <p:spPr>
          <a:xfrm>
            <a:off x="609600" y="3810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C2410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조합장 </a:t>
            </a:r>
            <a:r>
              <a:rPr lang="en-US" altLang="ko-KR" sz="1200" b="1">
                <a:solidFill>
                  <a:srgbClr val="C2410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6 / 12</a:t>
            </a:r>
            <a:endParaRPr lang="ko-KR" altLang="en-US" sz="1200" b="1">
              <a:solidFill>
                <a:srgbClr val="C2410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F00327-9D9C-4CA4-9D25-4532C2335F37}"/>
              </a:ext>
            </a:extLst>
          </p:cNvPr>
          <p:cNvSpPr txBox="1"/>
          <p:nvPr/>
        </p:nvSpPr>
        <p:spPr>
          <a:xfrm>
            <a:off x="609600" y="6350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600" b="1">
                <a:solidFill>
                  <a:srgbClr val="1E21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총회 설정과 소집통지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B68499-99FD-447F-B418-CA89E6008909}"/>
              </a:ext>
            </a:extLst>
          </p:cNvPr>
          <p:cNvSpPr txBox="1"/>
          <p:nvPr/>
        </p:nvSpPr>
        <p:spPr>
          <a:xfrm>
            <a:off x="8077200" y="1270000"/>
            <a:ext cx="350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일시</a:t>
            </a:r>
            <a:r>
              <a:rPr lang="en-US" altLang="ko-KR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전자의결 기간</a:t>
            </a:r>
            <a:r>
              <a:rPr lang="en-US" altLang="ko-KR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안건을 정하면</a:t>
            </a:r>
            <a:b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소집통지문이 자동 작성</a:t>
            </a:r>
            <a:r>
              <a:rPr lang="en-US" altLang="ko-KR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알림톡</a:t>
            </a:r>
            <a:b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발송</a:t>
            </a:r>
            <a:r>
              <a:rPr lang="en-US" altLang="ko-KR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500">
              <a:solidFill>
                <a:srgbClr val="464C5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6E778ED-EEB2-457E-AB15-DAF9751C6E4C}"/>
              </a:ext>
            </a:extLst>
          </p:cNvPr>
          <p:cNvSpPr/>
          <p:nvPr/>
        </p:nvSpPr>
        <p:spPr>
          <a:xfrm>
            <a:off x="8077200" y="2438400"/>
            <a:ext cx="3505200" cy="685800"/>
          </a:xfrm>
          <a:prstGeom prst="roundRect">
            <a:avLst>
              <a:gd name="adj" fmla="val 8000"/>
            </a:avLst>
          </a:prstGeom>
          <a:solidFill>
            <a:srgbClr val="E6F1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B1AED8-8661-489A-BB55-03948FD853BC}"/>
              </a:ext>
            </a:extLst>
          </p:cNvPr>
          <p:cNvSpPr txBox="1"/>
          <p:nvPr/>
        </p:nvSpPr>
        <p:spPr>
          <a:xfrm>
            <a:off x="8255000" y="25527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안건 종류별 필요 직접출석 인원 자동</a:t>
            </a:r>
            <a:b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안내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1536718-F9E7-4B82-905E-5DEE36677148}"/>
              </a:ext>
            </a:extLst>
          </p:cNvPr>
          <p:cNvSpPr/>
          <p:nvPr/>
        </p:nvSpPr>
        <p:spPr>
          <a:xfrm>
            <a:off x="8077200" y="3251200"/>
            <a:ext cx="3505200" cy="685800"/>
          </a:xfrm>
          <a:prstGeom prst="roundRect">
            <a:avLst>
              <a:gd name="adj" fmla="val 8000"/>
            </a:avLst>
          </a:prstGeom>
          <a:solidFill>
            <a:srgbClr val="E6F1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D1A65A-325A-43D5-B331-4007DA3BA240}"/>
              </a:ext>
            </a:extLst>
          </p:cNvPr>
          <p:cNvSpPr txBox="1"/>
          <p:nvPr/>
        </p:nvSpPr>
        <p:spPr>
          <a:xfrm>
            <a:off x="8255000" y="33655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등기우편 약 </a:t>
            </a:r>
            <a:r>
              <a:rPr lang="en-US" altLang="ko-KR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3,000</a:t>
            </a: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 → 알림톡 약</a:t>
            </a:r>
            <a:b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 </a:t>
            </a:r>
            <a:r>
              <a:rPr lang="en-US" altLang="ko-KR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건당</a:t>
            </a:r>
            <a:r>
              <a:rPr lang="en-US" altLang="ko-KR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예시 단가</a:t>
            </a:r>
            <a:r>
              <a:rPr lang="en-US" altLang="ko-KR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300" b="1">
              <a:solidFill>
                <a:srgbClr val="08434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F77432-5A2B-47F8-92EE-4EC2AC56DCA2}"/>
              </a:ext>
            </a:extLst>
          </p:cNvPr>
          <p:cNvSpPr txBox="1"/>
          <p:nvPr/>
        </p:nvSpPr>
        <p:spPr>
          <a:xfrm>
            <a:off x="8077200" y="4140200"/>
            <a:ext cx="350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근거</a:t>
            </a:r>
            <a:r>
              <a:rPr lang="en-US" altLang="ko-KR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시행령 제</a:t>
            </a:r>
            <a:r>
              <a:rPr lang="en-US" altLang="ko-KR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42</a:t>
            </a:r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 제</a:t>
            </a:r>
            <a:r>
              <a:rPr lang="en-US" altLang="ko-KR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항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9DF0F5-0F75-4B7C-B639-943CE46A6422}"/>
              </a:ext>
            </a:extLst>
          </p:cNvPr>
          <p:cNvSpPr txBox="1"/>
          <p:nvPr/>
        </p:nvSpPr>
        <p:spPr>
          <a:xfrm>
            <a:off x="609600" y="65278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조합</a:t>
            </a:r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ONE · </a:t>
            </a:r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영업 시연 시나리오 대본 </a:t>
            </a:r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수치는 시연용 예시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FC21BA-500A-4DB2-8635-9BB1B95F7A5E}"/>
              </a:ext>
            </a:extLst>
          </p:cNvPr>
          <p:cNvSpPr txBox="1"/>
          <p:nvPr/>
        </p:nvSpPr>
        <p:spPr>
          <a:xfrm>
            <a:off x="10820400" y="6527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endParaRPr lang="ko-KR" altLang="en-US" sz="900">
              <a:solidFill>
                <a:srgbClr val="5F6B7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366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3834871-E102-41F5-80E5-EE36A91255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601"/>
          <a:stretch>
            <a:fillRect/>
          </a:stretch>
        </p:blipFill>
        <p:spPr>
          <a:xfrm>
            <a:off x="609600" y="1562100"/>
            <a:ext cx="7112000" cy="4445000"/>
          </a:xfrm>
          <a:prstGeom prst="rect">
            <a:avLst/>
          </a:prstGeom>
          <a:ln w="12700">
            <a:solidFill>
              <a:srgbClr val="D6DCE0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67E560-8051-4B8A-A7C8-B941CC47011A}"/>
              </a:ext>
            </a:extLst>
          </p:cNvPr>
          <p:cNvSpPr txBox="1"/>
          <p:nvPr/>
        </p:nvSpPr>
        <p:spPr>
          <a:xfrm>
            <a:off x="609600" y="3810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C2410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조합장 </a:t>
            </a:r>
            <a:r>
              <a:rPr lang="en-US" altLang="ko-KR" sz="1200" b="1">
                <a:solidFill>
                  <a:srgbClr val="C2410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7 / 12</a:t>
            </a:r>
            <a:endParaRPr lang="ko-KR" altLang="en-US" sz="1200" b="1">
              <a:solidFill>
                <a:srgbClr val="C2410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F52AE7-7053-429C-9E7C-5BFAF6F45FF6}"/>
              </a:ext>
            </a:extLst>
          </p:cNvPr>
          <p:cNvSpPr txBox="1"/>
          <p:nvPr/>
        </p:nvSpPr>
        <p:spPr>
          <a:xfrm>
            <a:off x="609600" y="6350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600" b="1">
                <a:solidFill>
                  <a:srgbClr val="1E21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전자투표와 성원</a:t>
            </a:r>
            <a:r>
              <a:rPr lang="en-US" altLang="ko-KR" sz="2600" b="1">
                <a:solidFill>
                  <a:srgbClr val="1E21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600" b="1">
                <a:solidFill>
                  <a:srgbClr val="1E21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의결 점검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D5DD55-59D1-45F6-8D0B-E0701B315B0E}"/>
              </a:ext>
            </a:extLst>
          </p:cNvPr>
          <p:cNvSpPr txBox="1"/>
          <p:nvPr/>
        </p:nvSpPr>
        <p:spPr>
          <a:xfrm>
            <a:off x="8077200" y="1270000"/>
            <a:ext cx="350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개표 전에는 찬반 집계 비공개</a:t>
            </a:r>
            <a:r>
              <a:rPr lang="en-US" altLang="ko-KR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br>
              <a:rPr lang="en-US" altLang="ko-KR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현장</a:t>
            </a:r>
            <a:r>
              <a:rPr lang="en-US" altLang="ko-KR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대리인</a:t>
            </a:r>
            <a:r>
              <a:rPr lang="en-US" altLang="ko-KR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온라인 출석을 합쳐 성원</a:t>
            </a:r>
            <a:b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판정</a:t>
            </a:r>
            <a:r>
              <a:rPr lang="en-US" altLang="ko-KR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500">
              <a:solidFill>
                <a:srgbClr val="464C5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9230B9C-0C32-4400-8960-BA00362CBFC7}"/>
              </a:ext>
            </a:extLst>
          </p:cNvPr>
          <p:cNvSpPr/>
          <p:nvPr/>
        </p:nvSpPr>
        <p:spPr>
          <a:xfrm>
            <a:off x="8077200" y="2438400"/>
            <a:ext cx="3505200" cy="685800"/>
          </a:xfrm>
          <a:prstGeom prst="roundRect">
            <a:avLst>
              <a:gd name="adj" fmla="val 8000"/>
            </a:avLst>
          </a:prstGeom>
          <a:solidFill>
            <a:srgbClr val="E6F1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DCDBEE-F100-4E04-86EC-E3CE285B7D0C}"/>
              </a:ext>
            </a:extLst>
          </p:cNvPr>
          <p:cNvSpPr txBox="1"/>
          <p:nvPr/>
        </p:nvSpPr>
        <p:spPr>
          <a:xfrm>
            <a:off x="8255000" y="25527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의사정족수 </a:t>
            </a:r>
            <a:r>
              <a:rPr lang="en-US" altLang="ko-KR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직접출석</a:t>
            </a:r>
            <a:b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10%·20%·</a:t>
            </a: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과반수 요건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4BAB82E-A1F6-4D0A-A95A-EAF26EFAA856}"/>
              </a:ext>
            </a:extLst>
          </p:cNvPr>
          <p:cNvSpPr/>
          <p:nvPr/>
        </p:nvSpPr>
        <p:spPr>
          <a:xfrm>
            <a:off x="8077200" y="3251200"/>
            <a:ext cx="3505200" cy="685800"/>
          </a:xfrm>
          <a:prstGeom prst="roundRect">
            <a:avLst>
              <a:gd name="adj" fmla="val 8000"/>
            </a:avLst>
          </a:prstGeom>
          <a:solidFill>
            <a:srgbClr val="E6F1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91E90B-0AB4-4BB3-9D0B-8D636E01820D}"/>
              </a:ext>
            </a:extLst>
          </p:cNvPr>
          <p:cNvSpPr txBox="1"/>
          <p:nvPr/>
        </p:nvSpPr>
        <p:spPr>
          <a:xfrm>
            <a:off x="8255000" y="33655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개표 후 안건별 가결</a:t>
            </a:r>
            <a:r>
              <a:rPr lang="en-US" altLang="ko-KR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부결 자동 판정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A3074B-2BC4-482A-8BA1-B2B157927ADA}"/>
              </a:ext>
            </a:extLst>
          </p:cNvPr>
          <p:cNvSpPr txBox="1"/>
          <p:nvPr/>
        </p:nvSpPr>
        <p:spPr>
          <a:xfrm>
            <a:off x="8077200" y="4140200"/>
            <a:ext cx="350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근거</a:t>
            </a:r>
            <a:r>
              <a:rPr lang="en-US" altLang="ko-KR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법 제</a:t>
            </a:r>
            <a:r>
              <a:rPr lang="en-US" altLang="ko-KR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45</a:t>
            </a:r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</a:t>
            </a:r>
            <a:r>
              <a:rPr lang="en-US" altLang="ko-KR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44</a:t>
            </a:r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조의</a:t>
            </a:r>
            <a:r>
              <a:rPr lang="en-US" altLang="ko-KR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2, </a:t>
            </a:r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시행령 제</a:t>
            </a:r>
            <a:r>
              <a:rPr lang="en-US" altLang="ko-KR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42</a:t>
            </a:r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A87687-88C8-4914-9D81-A2838A58223F}"/>
              </a:ext>
            </a:extLst>
          </p:cNvPr>
          <p:cNvSpPr txBox="1"/>
          <p:nvPr/>
        </p:nvSpPr>
        <p:spPr>
          <a:xfrm>
            <a:off x="609600" y="65278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조합</a:t>
            </a:r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ONE · </a:t>
            </a:r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영업 시연 시나리오 대본 </a:t>
            </a:r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수치는 시연용 예시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8B85E9-2CE6-4AD5-BDF7-16F321D72B1D}"/>
              </a:ext>
            </a:extLst>
          </p:cNvPr>
          <p:cNvSpPr txBox="1"/>
          <p:nvPr/>
        </p:nvSpPr>
        <p:spPr>
          <a:xfrm>
            <a:off x="10820400" y="6527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endParaRPr lang="ko-KR" altLang="en-US" sz="900">
              <a:solidFill>
                <a:srgbClr val="5F6B7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0273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2E0E13C-06DF-4141-8F1C-EF3807942E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601"/>
          <a:stretch>
            <a:fillRect/>
          </a:stretch>
        </p:blipFill>
        <p:spPr>
          <a:xfrm>
            <a:off x="609600" y="1562100"/>
            <a:ext cx="7112000" cy="4445000"/>
          </a:xfrm>
          <a:prstGeom prst="rect">
            <a:avLst/>
          </a:prstGeom>
          <a:ln w="12700">
            <a:solidFill>
              <a:srgbClr val="D6DCE0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A83187-0427-4077-A799-3295227635F8}"/>
              </a:ext>
            </a:extLst>
          </p:cNvPr>
          <p:cNvSpPr txBox="1"/>
          <p:nvPr/>
        </p:nvSpPr>
        <p:spPr>
          <a:xfrm>
            <a:off x="609600" y="3810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C2410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조합장 </a:t>
            </a:r>
            <a:r>
              <a:rPr lang="en-US" altLang="ko-KR" sz="1200" b="1">
                <a:solidFill>
                  <a:srgbClr val="C2410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8 / 12</a:t>
            </a:r>
            <a:endParaRPr lang="ko-KR" altLang="en-US" sz="1200" b="1">
              <a:solidFill>
                <a:srgbClr val="C2410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4FEDAC-09F7-4181-B191-C68BFEF052B6}"/>
              </a:ext>
            </a:extLst>
          </p:cNvPr>
          <p:cNvSpPr txBox="1"/>
          <p:nvPr/>
        </p:nvSpPr>
        <p:spPr>
          <a:xfrm>
            <a:off x="609600" y="6350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600" b="1">
                <a:solidFill>
                  <a:srgbClr val="1E21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전자동의서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5F8D6B-F989-4F27-ADD4-61189E4B1F52}"/>
              </a:ext>
            </a:extLst>
          </p:cNvPr>
          <p:cNvSpPr txBox="1"/>
          <p:nvPr/>
        </p:nvSpPr>
        <p:spPr>
          <a:xfrm>
            <a:off x="8077200" y="1270000"/>
            <a:ext cx="350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추진위 구성</a:t>
            </a:r>
            <a:r>
              <a:rPr lang="en-US" altLang="ko-KR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조합설립 동의를</a:t>
            </a:r>
            <a:b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휴대폰으로 받고 법정 요건 대비</a:t>
            </a:r>
            <a:b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동의율을 실시간 확인</a:t>
            </a:r>
            <a:r>
              <a:rPr lang="en-US" altLang="ko-KR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500">
              <a:solidFill>
                <a:srgbClr val="464C5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10AED2C-82AC-48CC-8E49-C9E2B67E9AF1}"/>
              </a:ext>
            </a:extLst>
          </p:cNvPr>
          <p:cNvSpPr/>
          <p:nvPr/>
        </p:nvSpPr>
        <p:spPr>
          <a:xfrm>
            <a:off x="8077200" y="2438400"/>
            <a:ext cx="3505200" cy="685800"/>
          </a:xfrm>
          <a:prstGeom prst="roundRect">
            <a:avLst>
              <a:gd name="adj" fmla="val 8000"/>
            </a:avLst>
          </a:prstGeom>
          <a:solidFill>
            <a:srgbClr val="E6F1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028B61-D8C3-4A6A-AE1D-DD637510A294}"/>
              </a:ext>
            </a:extLst>
          </p:cNvPr>
          <p:cNvSpPr txBox="1"/>
          <p:nvPr/>
        </p:nvSpPr>
        <p:spPr>
          <a:xfrm>
            <a:off x="8255000" y="25527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재개발 </a:t>
            </a:r>
            <a:r>
              <a:rPr lang="en-US" altLang="ko-KR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3/4, </a:t>
            </a: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재건축 동별 과반</a:t>
            </a:r>
            <a:r>
              <a:rPr lang="en-US" altLang="ko-KR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+70% </a:t>
            </a: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</a:t>
            </a:r>
            <a:b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적용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B54B176-27CD-46FB-B00A-1BA566C92913}"/>
              </a:ext>
            </a:extLst>
          </p:cNvPr>
          <p:cNvSpPr/>
          <p:nvPr/>
        </p:nvSpPr>
        <p:spPr>
          <a:xfrm>
            <a:off x="8077200" y="3251200"/>
            <a:ext cx="3505200" cy="685800"/>
          </a:xfrm>
          <a:prstGeom prst="roundRect">
            <a:avLst>
              <a:gd name="adj" fmla="val 8000"/>
            </a:avLst>
          </a:prstGeom>
          <a:solidFill>
            <a:srgbClr val="E6F1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3AAAC9-9F8B-49AD-B41B-0C0934652773}"/>
              </a:ext>
            </a:extLst>
          </p:cNvPr>
          <p:cNvSpPr txBox="1"/>
          <p:nvPr/>
        </p:nvSpPr>
        <p:spPr>
          <a:xfrm>
            <a:off x="8255000" y="33655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철회 가능 기간 판정과 철회서 접수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C7EE4D-E69D-4119-A22E-77410B6FBBAC}"/>
              </a:ext>
            </a:extLst>
          </p:cNvPr>
          <p:cNvSpPr txBox="1"/>
          <p:nvPr/>
        </p:nvSpPr>
        <p:spPr>
          <a:xfrm>
            <a:off x="8077200" y="4140200"/>
            <a:ext cx="350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근거</a:t>
            </a:r>
            <a:r>
              <a:rPr lang="en-US" altLang="ko-KR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법 제</a:t>
            </a:r>
            <a:r>
              <a:rPr lang="en-US" altLang="ko-KR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35</a:t>
            </a:r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</a:t>
            </a:r>
            <a:r>
              <a:rPr lang="en-US" altLang="ko-KR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36</a:t>
            </a:r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</a:t>
            </a:r>
            <a:r>
              <a:rPr lang="en-US" altLang="ko-KR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시행령 제</a:t>
            </a:r>
            <a:r>
              <a:rPr lang="en-US" altLang="ko-KR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33</a:t>
            </a:r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64D917-F576-4C42-AE97-BA52D052C6B7}"/>
              </a:ext>
            </a:extLst>
          </p:cNvPr>
          <p:cNvSpPr txBox="1"/>
          <p:nvPr/>
        </p:nvSpPr>
        <p:spPr>
          <a:xfrm>
            <a:off x="609600" y="65278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조합</a:t>
            </a:r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ONE · </a:t>
            </a:r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영업 시연 시나리오 대본 </a:t>
            </a:r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수치는 시연용 예시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9664AE-8762-407A-9AA8-8ECB99AB4A60}"/>
              </a:ext>
            </a:extLst>
          </p:cNvPr>
          <p:cNvSpPr txBox="1"/>
          <p:nvPr/>
        </p:nvSpPr>
        <p:spPr>
          <a:xfrm>
            <a:off x="10820400" y="6527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900">
              <a:solidFill>
                <a:srgbClr val="5F6B7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4458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857D703-7782-4023-85EF-9EB9D743C0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601"/>
          <a:stretch>
            <a:fillRect/>
          </a:stretch>
        </p:blipFill>
        <p:spPr>
          <a:xfrm>
            <a:off x="609600" y="1562100"/>
            <a:ext cx="7112000" cy="4445000"/>
          </a:xfrm>
          <a:prstGeom prst="rect">
            <a:avLst/>
          </a:prstGeom>
          <a:ln w="12700">
            <a:solidFill>
              <a:srgbClr val="D6DCE0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74695B-AB47-4836-BE8B-CFAFC44EB410}"/>
              </a:ext>
            </a:extLst>
          </p:cNvPr>
          <p:cNvSpPr txBox="1"/>
          <p:nvPr/>
        </p:nvSpPr>
        <p:spPr>
          <a:xfrm>
            <a:off x="609600" y="3810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C2410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조합장 </a:t>
            </a:r>
            <a:r>
              <a:rPr lang="en-US" altLang="ko-KR" sz="1200" b="1">
                <a:solidFill>
                  <a:srgbClr val="C2410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9 / 12</a:t>
            </a:r>
            <a:endParaRPr lang="ko-KR" altLang="en-US" sz="1200" b="1">
              <a:solidFill>
                <a:srgbClr val="C2410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52C41B-43D7-4ADC-8BC3-7FEDC3A23EBC}"/>
              </a:ext>
            </a:extLst>
          </p:cNvPr>
          <p:cNvSpPr txBox="1"/>
          <p:nvPr/>
        </p:nvSpPr>
        <p:spPr>
          <a:xfrm>
            <a:off x="609600" y="6350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600" b="1">
                <a:solidFill>
                  <a:srgbClr val="1E21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조합명부관리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04AACF-D566-4FE5-AE29-E4DCD788DF84}"/>
              </a:ext>
            </a:extLst>
          </p:cNvPr>
          <p:cNvSpPr txBox="1"/>
          <p:nvPr/>
        </p:nvSpPr>
        <p:spPr>
          <a:xfrm>
            <a:off x="8077200" y="1270000"/>
            <a:ext cx="350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명부</a:t>
            </a:r>
            <a:r>
              <a:rPr lang="en-US" altLang="ko-KR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신분증</a:t>
            </a:r>
            <a:r>
              <a:rPr lang="en-US" altLang="ko-KR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서면결의서 제출</a:t>
            </a:r>
            <a:r>
              <a:rPr lang="en-US" altLang="ko-KR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연번</a:t>
            </a:r>
            <a:r>
              <a:rPr lang="en-US" altLang="ko-KR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br>
              <a:rPr lang="en-US" altLang="ko-KR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소유권 변동을 한 곳에서 관리</a:t>
            </a:r>
            <a:r>
              <a:rPr lang="en-US" altLang="ko-KR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500">
              <a:solidFill>
                <a:srgbClr val="464C5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449319F-D966-4C98-80A1-47A327B86E48}"/>
              </a:ext>
            </a:extLst>
          </p:cNvPr>
          <p:cNvSpPr/>
          <p:nvPr/>
        </p:nvSpPr>
        <p:spPr>
          <a:xfrm>
            <a:off x="8077200" y="2438400"/>
            <a:ext cx="3505200" cy="685800"/>
          </a:xfrm>
          <a:prstGeom prst="roundRect">
            <a:avLst>
              <a:gd name="adj" fmla="val 8000"/>
            </a:avLst>
          </a:prstGeom>
          <a:solidFill>
            <a:srgbClr val="E6F1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C69BB6-7C4C-47D0-9F5C-E9F44D5BACDB}"/>
              </a:ext>
            </a:extLst>
          </p:cNvPr>
          <p:cNvSpPr txBox="1"/>
          <p:nvPr/>
        </p:nvSpPr>
        <p:spPr>
          <a:xfrm>
            <a:off x="8255000" y="25527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주민번호 기본 마스킹</a:t>
            </a:r>
            <a:r>
              <a:rPr lang="en-US" altLang="ko-KR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원본 열람 시</a:t>
            </a:r>
            <a:b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사유 기록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FDBE37B-B6CA-422D-BDCF-3FF0575B5D55}"/>
              </a:ext>
            </a:extLst>
          </p:cNvPr>
          <p:cNvSpPr/>
          <p:nvPr/>
        </p:nvSpPr>
        <p:spPr>
          <a:xfrm>
            <a:off x="8077200" y="3251200"/>
            <a:ext cx="3505200" cy="685800"/>
          </a:xfrm>
          <a:prstGeom prst="roundRect">
            <a:avLst>
              <a:gd name="adj" fmla="val 8000"/>
            </a:avLst>
          </a:prstGeom>
          <a:solidFill>
            <a:srgbClr val="E6F1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B6088D-1DA9-46E0-B496-2B31FCF8D8D8}"/>
              </a:ext>
            </a:extLst>
          </p:cNvPr>
          <p:cNvSpPr txBox="1"/>
          <p:nvPr/>
        </p:nvSpPr>
        <p:spPr>
          <a:xfrm>
            <a:off x="8255000" y="33655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매매</a:t>
            </a:r>
            <a:r>
              <a:rPr lang="en-US" altLang="ko-KR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상속 변동 시 조합원 자격 제한</a:t>
            </a:r>
            <a:b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점검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AEC8E7-68DA-4129-A927-53D534E35398}"/>
              </a:ext>
            </a:extLst>
          </p:cNvPr>
          <p:cNvSpPr txBox="1"/>
          <p:nvPr/>
        </p:nvSpPr>
        <p:spPr>
          <a:xfrm>
            <a:off x="8077200" y="4140200"/>
            <a:ext cx="350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근거</a:t>
            </a:r>
            <a:r>
              <a:rPr lang="en-US" altLang="ko-KR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시행령 제</a:t>
            </a:r>
            <a:r>
              <a:rPr lang="en-US" altLang="ko-KR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97</a:t>
            </a:r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</a:t>
            </a:r>
            <a:r>
              <a:rPr lang="en-US" altLang="ko-KR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법 제</a:t>
            </a:r>
            <a:r>
              <a:rPr lang="en-US" altLang="ko-KR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39</a:t>
            </a:r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</a:t>
            </a:r>
            <a:r>
              <a:rPr lang="en-US" altLang="ko-KR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129</a:t>
            </a:r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847BA8-1372-42DC-BB4F-5F9A5C08EC0E}"/>
              </a:ext>
            </a:extLst>
          </p:cNvPr>
          <p:cNvSpPr txBox="1"/>
          <p:nvPr/>
        </p:nvSpPr>
        <p:spPr>
          <a:xfrm>
            <a:off x="609600" y="65278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조합</a:t>
            </a:r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ONE · </a:t>
            </a:r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영업 시연 시나리오 대본 </a:t>
            </a:r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수치는 시연용 예시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7F7644-25B3-46C3-B2BF-71E55F57E67F}"/>
              </a:ext>
            </a:extLst>
          </p:cNvPr>
          <p:cNvSpPr txBox="1"/>
          <p:nvPr/>
        </p:nvSpPr>
        <p:spPr>
          <a:xfrm>
            <a:off x="10820400" y="6527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r>
            <a:endParaRPr lang="ko-KR" altLang="en-US" sz="900">
              <a:solidFill>
                <a:srgbClr val="5F6B7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36593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4193A79-308F-48AD-81F5-F8A3750D8499}"/>
              </a:ext>
            </a:extLst>
          </p:cNvPr>
          <p:cNvSpPr/>
          <p:nvPr/>
        </p:nvSpPr>
        <p:spPr>
          <a:xfrm>
            <a:off x="609600" y="431800"/>
            <a:ext cx="4191000" cy="58928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DAF4DC4-9DE6-41F7-979E-7D34FED2A0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00" b="9288"/>
          <a:stretch>
            <a:fillRect/>
          </a:stretch>
        </p:blipFill>
        <p:spPr>
          <a:xfrm>
            <a:off x="1248718" y="533401"/>
            <a:ext cx="2912764" cy="5689599"/>
          </a:xfrm>
          <a:prstGeom prst="rect">
            <a:avLst/>
          </a:prstGeom>
          <a:ln w="12700">
            <a:solidFill>
              <a:srgbClr val="D6DCE0"/>
            </a:solidFill>
          </a:ln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8C54E96-5710-4530-B147-2C539ED68356}"/>
              </a:ext>
            </a:extLst>
          </p:cNvPr>
          <p:cNvSpPr/>
          <p:nvPr/>
        </p:nvSpPr>
        <p:spPr>
          <a:xfrm>
            <a:off x="5207000" y="508000"/>
            <a:ext cx="1219200" cy="279400"/>
          </a:xfrm>
          <a:prstGeom prst="roundRect">
            <a:avLst>
              <a:gd name="adj" fmla="val 8000"/>
            </a:avLst>
          </a:prstGeom>
          <a:solidFill>
            <a:srgbClr val="E5F3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rIns="25400" rtlCol="0" anchor="ctr"/>
          <a:lstStyle/>
          <a:p>
            <a:pPr algn="ctr"/>
            <a:r>
              <a:rPr lang="ko-KR" altLang="en-US" sz="1100" b="1">
                <a:solidFill>
                  <a:srgbClr val="1F7A4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조합원 </a:t>
            </a:r>
            <a:r>
              <a:rPr lang="en-US" altLang="ko-KR" sz="1100" b="1">
                <a:solidFill>
                  <a:srgbClr val="1F7A4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10 / 12</a:t>
            </a:r>
            <a:endParaRPr lang="ko-KR" altLang="en-US" sz="1100" b="1">
              <a:solidFill>
                <a:srgbClr val="1F7A4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5A2292-A1C0-4D71-963C-26104269111E}"/>
              </a:ext>
            </a:extLst>
          </p:cNvPr>
          <p:cNvSpPr txBox="1"/>
          <p:nvPr/>
        </p:nvSpPr>
        <p:spPr>
          <a:xfrm>
            <a:off x="5207000" y="914400"/>
            <a:ext cx="6375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600" b="1">
                <a:solidFill>
                  <a:srgbClr val="1E21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조합원</a:t>
            </a:r>
            <a:r>
              <a:rPr lang="en-US" altLang="ko-KR" sz="2600" b="1">
                <a:solidFill>
                  <a:srgbClr val="1E21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600" b="1">
                <a:solidFill>
                  <a:srgbClr val="1E21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휴대폰으로 투표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75BD4E-2AAB-4353-839E-54096670860E}"/>
              </a:ext>
            </a:extLst>
          </p:cNvPr>
          <p:cNvSpPr txBox="1"/>
          <p:nvPr/>
        </p:nvSpPr>
        <p:spPr>
          <a:xfrm>
            <a:off x="5207000" y="1625600"/>
            <a:ext cx="6375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본인 이름 선택 → 안건마다 찬성</a:t>
            </a:r>
            <a:r>
              <a:rPr lang="en-US" altLang="ko-KR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반대</a:t>
            </a:r>
            <a:r>
              <a:rPr lang="en-US" altLang="ko-KR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기권 → 투표 제출</a:t>
            </a:r>
            <a:r>
              <a:rPr lang="en-US" altLang="ko-KR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500">
              <a:solidFill>
                <a:srgbClr val="464C5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119DE21-D5B4-488B-803C-E3E425C66BD6}"/>
              </a:ext>
            </a:extLst>
          </p:cNvPr>
          <p:cNvSpPr/>
          <p:nvPr/>
        </p:nvSpPr>
        <p:spPr>
          <a:xfrm>
            <a:off x="5207000" y="2794000"/>
            <a:ext cx="6375400" cy="685800"/>
          </a:xfrm>
          <a:prstGeom prst="roundRect">
            <a:avLst>
              <a:gd name="adj" fmla="val 8000"/>
            </a:avLst>
          </a:prstGeom>
          <a:solidFill>
            <a:srgbClr val="E6F1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7F07BF-045A-484D-8F96-18A9840EB75B}"/>
              </a:ext>
            </a:extLst>
          </p:cNvPr>
          <p:cNvSpPr txBox="1"/>
          <p:nvPr/>
        </p:nvSpPr>
        <p:spPr>
          <a:xfrm>
            <a:off x="5384800" y="2908300"/>
            <a:ext cx="6019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서면결의서 우편</a:t>
            </a:r>
            <a:r>
              <a:rPr lang="en-US" altLang="ko-KR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방문 회수 불필요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C9FB544-C108-4FB0-B8D7-FD87BEB10706}"/>
              </a:ext>
            </a:extLst>
          </p:cNvPr>
          <p:cNvSpPr/>
          <p:nvPr/>
        </p:nvSpPr>
        <p:spPr>
          <a:xfrm>
            <a:off x="5207000" y="3606800"/>
            <a:ext cx="6375400" cy="685800"/>
          </a:xfrm>
          <a:prstGeom prst="roundRect">
            <a:avLst>
              <a:gd name="adj" fmla="val 8000"/>
            </a:avLst>
          </a:prstGeom>
          <a:solidFill>
            <a:srgbClr val="E6F1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597A18-46DC-4D02-8BC4-B16DEBAA3F4A}"/>
              </a:ext>
            </a:extLst>
          </p:cNvPr>
          <p:cNvSpPr txBox="1"/>
          <p:nvPr/>
        </p:nvSpPr>
        <p:spPr>
          <a:xfrm>
            <a:off x="5384800" y="3721100"/>
            <a:ext cx="6019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서면 방법도 함께 보장 </a:t>
            </a:r>
            <a:r>
              <a:rPr lang="en-US" altLang="ko-KR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큰 글씨 기본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D6E534-9917-4A0A-AC80-C413AF7E6A45}"/>
              </a:ext>
            </a:extLst>
          </p:cNvPr>
          <p:cNvSpPr txBox="1"/>
          <p:nvPr/>
        </p:nvSpPr>
        <p:spPr>
          <a:xfrm>
            <a:off x="5207000" y="4495800"/>
            <a:ext cx="6375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근거</a:t>
            </a:r>
            <a:r>
              <a:rPr lang="en-US" altLang="ko-KR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법 제</a:t>
            </a:r>
            <a:r>
              <a:rPr lang="en-US" altLang="ko-KR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45</a:t>
            </a:r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 제</a:t>
            </a:r>
            <a:r>
              <a:rPr lang="en-US" altLang="ko-KR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항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F736FD-7210-407D-8582-6D9A6286CEB9}"/>
              </a:ext>
            </a:extLst>
          </p:cNvPr>
          <p:cNvSpPr txBox="1"/>
          <p:nvPr/>
        </p:nvSpPr>
        <p:spPr>
          <a:xfrm>
            <a:off x="609600" y="65278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조합</a:t>
            </a:r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ONE · </a:t>
            </a:r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영업 시연 시나리오 대본 </a:t>
            </a:r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수치는 시연용 예시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303050-2737-4E22-995E-312DA9448F76}"/>
              </a:ext>
            </a:extLst>
          </p:cNvPr>
          <p:cNvSpPr txBox="1"/>
          <p:nvPr/>
        </p:nvSpPr>
        <p:spPr>
          <a:xfrm>
            <a:off x="10820400" y="6527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endParaRPr lang="ko-KR" altLang="en-US" sz="900">
              <a:solidFill>
                <a:srgbClr val="5F6B7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3172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06C5377-83FC-4156-9B8C-A4323C76255C}"/>
              </a:ext>
            </a:extLst>
          </p:cNvPr>
          <p:cNvSpPr/>
          <p:nvPr/>
        </p:nvSpPr>
        <p:spPr>
          <a:xfrm>
            <a:off x="609600" y="431800"/>
            <a:ext cx="4191000" cy="58928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560F161-8FF1-4337-B7A2-38003C08AA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00" b="9288"/>
          <a:stretch>
            <a:fillRect/>
          </a:stretch>
        </p:blipFill>
        <p:spPr>
          <a:xfrm>
            <a:off x="1248718" y="533401"/>
            <a:ext cx="2912764" cy="5689599"/>
          </a:xfrm>
          <a:prstGeom prst="rect">
            <a:avLst/>
          </a:prstGeom>
          <a:ln w="12700">
            <a:solidFill>
              <a:srgbClr val="D6DCE0"/>
            </a:solidFill>
          </a:ln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2C29E4D-048B-4F0E-914C-CDED9B7FE39D}"/>
              </a:ext>
            </a:extLst>
          </p:cNvPr>
          <p:cNvSpPr/>
          <p:nvPr/>
        </p:nvSpPr>
        <p:spPr>
          <a:xfrm>
            <a:off x="5207000" y="508000"/>
            <a:ext cx="1219200" cy="279400"/>
          </a:xfrm>
          <a:prstGeom prst="roundRect">
            <a:avLst>
              <a:gd name="adj" fmla="val 8000"/>
            </a:avLst>
          </a:prstGeom>
          <a:solidFill>
            <a:srgbClr val="E5F3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rIns="25400" rtlCol="0" anchor="ctr"/>
          <a:lstStyle/>
          <a:p>
            <a:pPr algn="ctr"/>
            <a:r>
              <a:rPr lang="ko-KR" altLang="en-US" sz="1100" b="1">
                <a:solidFill>
                  <a:srgbClr val="1F7A4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조합원 </a:t>
            </a:r>
            <a:r>
              <a:rPr lang="en-US" altLang="ko-KR" sz="1100" b="1">
                <a:solidFill>
                  <a:srgbClr val="1F7A4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11 / 12</a:t>
            </a:r>
            <a:endParaRPr lang="ko-KR" altLang="en-US" sz="1100" b="1">
              <a:solidFill>
                <a:srgbClr val="1F7A4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F34957-F602-4607-B156-DDD888934577}"/>
              </a:ext>
            </a:extLst>
          </p:cNvPr>
          <p:cNvSpPr txBox="1"/>
          <p:nvPr/>
        </p:nvSpPr>
        <p:spPr>
          <a:xfrm>
            <a:off x="5207000" y="914400"/>
            <a:ext cx="6375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600" b="1">
                <a:solidFill>
                  <a:srgbClr val="1E21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조합원</a:t>
            </a:r>
            <a:r>
              <a:rPr lang="en-US" altLang="ko-KR" sz="2600" b="1">
                <a:solidFill>
                  <a:srgbClr val="1E21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600" b="1">
                <a:solidFill>
                  <a:srgbClr val="1E21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온라인총회 입장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88B125-EFD3-47C6-93F7-D1032ED5B4B0}"/>
              </a:ext>
            </a:extLst>
          </p:cNvPr>
          <p:cNvSpPr txBox="1"/>
          <p:nvPr/>
        </p:nvSpPr>
        <p:spPr>
          <a:xfrm>
            <a:off x="5207000" y="1625600"/>
            <a:ext cx="6375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총회 당일 「입장하기」로 참석하면 직접 출석으로 인정</a:t>
            </a:r>
            <a:r>
              <a:rPr lang="en-US" altLang="ko-KR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접속 기록</a:t>
            </a:r>
            <a:b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보관</a:t>
            </a:r>
            <a:r>
              <a:rPr lang="en-US" altLang="ko-KR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500">
              <a:solidFill>
                <a:srgbClr val="464C5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5027DEF-4536-44C4-AD7D-A0E9F37BB8DD}"/>
              </a:ext>
            </a:extLst>
          </p:cNvPr>
          <p:cNvSpPr/>
          <p:nvPr/>
        </p:nvSpPr>
        <p:spPr>
          <a:xfrm>
            <a:off x="5207000" y="2794000"/>
            <a:ext cx="6375400" cy="685800"/>
          </a:xfrm>
          <a:prstGeom prst="roundRect">
            <a:avLst>
              <a:gd name="adj" fmla="val 8000"/>
            </a:avLst>
          </a:prstGeom>
          <a:solidFill>
            <a:srgbClr val="E6F1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1E645B-D521-4BBA-B785-C7776D06F674}"/>
              </a:ext>
            </a:extLst>
          </p:cNvPr>
          <p:cNvSpPr txBox="1"/>
          <p:nvPr/>
        </p:nvSpPr>
        <p:spPr>
          <a:xfrm>
            <a:off x="5384800" y="2908300"/>
            <a:ext cx="6019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총회장 대관</a:t>
            </a:r>
            <a:r>
              <a:rPr lang="en-US" altLang="ko-KR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인력 축소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18D6799-C07B-4AF6-8D7A-46B6E364927E}"/>
              </a:ext>
            </a:extLst>
          </p:cNvPr>
          <p:cNvSpPr/>
          <p:nvPr/>
        </p:nvSpPr>
        <p:spPr>
          <a:xfrm>
            <a:off x="5207000" y="3606800"/>
            <a:ext cx="6375400" cy="685800"/>
          </a:xfrm>
          <a:prstGeom prst="roundRect">
            <a:avLst>
              <a:gd name="adj" fmla="val 8000"/>
            </a:avLst>
          </a:prstGeom>
          <a:solidFill>
            <a:srgbClr val="E6F1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4A0BAA-F7FA-4168-AF5A-EED8B903B26B}"/>
              </a:ext>
            </a:extLst>
          </p:cNvPr>
          <p:cNvSpPr txBox="1"/>
          <p:nvPr/>
        </p:nvSpPr>
        <p:spPr>
          <a:xfrm>
            <a:off x="5384800" y="3721100"/>
            <a:ext cx="6019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먼 곳 조합원도 참석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D7B6BB-AD81-42FE-BA3A-4034F16D4342}"/>
              </a:ext>
            </a:extLst>
          </p:cNvPr>
          <p:cNvSpPr txBox="1"/>
          <p:nvPr/>
        </p:nvSpPr>
        <p:spPr>
          <a:xfrm>
            <a:off x="5207000" y="4495800"/>
            <a:ext cx="6375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근거</a:t>
            </a:r>
            <a:r>
              <a:rPr lang="en-US" altLang="ko-KR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법 제</a:t>
            </a:r>
            <a:r>
              <a:rPr lang="en-US" altLang="ko-KR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44</a:t>
            </a:r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조의</a:t>
            </a:r>
            <a:r>
              <a:rPr lang="en-US" altLang="ko-KR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 </a:t>
            </a:r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1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항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4F28AA-E4D0-4756-AE75-ED4E0BDBB633}"/>
              </a:ext>
            </a:extLst>
          </p:cNvPr>
          <p:cNvSpPr txBox="1"/>
          <p:nvPr/>
        </p:nvSpPr>
        <p:spPr>
          <a:xfrm>
            <a:off x="609600" y="65278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조합</a:t>
            </a:r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ONE · </a:t>
            </a:r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영업 시연 시나리오 대본 </a:t>
            </a:r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수치는 시연용 예시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BE80BB-4D14-4D15-A1E0-74C883E5B857}"/>
              </a:ext>
            </a:extLst>
          </p:cNvPr>
          <p:cNvSpPr txBox="1"/>
          <p:nvPr/>
        </p:nvSpPr>
        <p:spPr>
          <a:xfrm>
            <a:off x="10820400" y="6527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13</a:t>
            </a:r>
            <a:endParaRPr lang="ko-KR" altLang="en-US" sz="900">
              <a:solidFill>
                <a:srgbClr val="5F6B7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0119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B0F45D67-2EAE-43CD-937D-A35ADBE67EA2}"/>
              </a:ext>
            </a:extLst>
          </p:cNvPr>
          <p:cNvSpPr/>
          <p:nvPr/>
        </p:nvSpPr>
        <p:spPr>
          <a:xfrm>
            <a:off x="609600" y="431800"/>
            <a:ext cx="4191000" cy="58928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94B7464-C4E0-423D-A6E1-E79F27C6C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00" b="9288"/>
          <a:stretch>
            <a:fillRect/>
          </a:stretch>
        </p:blipFill>
        <p:spPr>
          <a:xfrm>
            <a:off x="1248718" y="533401"/>
            <a:ext cx="2912764" cy="5689599"/>
          </a:xfrm>
          <a:prstGeom prst="rect">
            <a:avLst/>
          </a:prstGeom>
          <a:ln w="12700">
            <a:solidFill>
              <a:srgbClr val="D6DCE0"/>
            </a:solidFill>
          </a:ln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F4571CA-9C1C-4EC7-8A7B-6118CAB4B402}"/>
              </a:ext>
            </a:extLst>
          </p:cNvPr>
          <p:cNvSpPr/>
          <p:nvPr/>
        </p:nvSpPr>
        <p:spPr>
          <a:xfrm>
            <a:off x="5207000" y="508000"/>
            <a:ext cx="1219200" cy="279400"/>
          </a:xfrm>
          <a:prstGeom prst="roundRect">
            <a:avLst>
              <a:gd name="adj" fmla="val 8000"/>
            </a:avLst>
          </a:prstGeom>
          <a:solidFill>
            <a:srgbClr val="E5F3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rIns="25400" rtlCol="0" anchor="ctr"/>
          <a:lstStyle/>
          <a:p>
            <a:pPr algn="ctr"/>
            <a:r>
              <a:rPr lang="ko-KR" altLang="en-US" sz="1100" b="1">
                <a:solidFill>
                  <a:srgbClr val="1F7A4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조합원 </a:t>
            </a:r>
            <a:r>
              <a:rPr lang="en-US" altLang="ko-KR" sz="1100" b="1">
                <a:solidFill>
                  <a:srgbClr val="1F7A4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12 / 12</a:t>
            </a:r>
            <a:endParaRPr lang="ko-KR" altLang="en-US" sz="1100" b="1">
              <a:solidFill>
                <a:srgbClr val="1F7A4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13593E-5742-4FB1-A143-25E4448AF917}"/>
              </a:ext>
            </a:extLst>
          </p:cNvPr>
          <p:cNvSpPr txBox="1"/>
          <p:nvPr/>
        </p:nvSpPr>
        <p:spPr>
          <a:xfrm>
            <a:off x="5207000" y="914400"/>
            <a:ext cx="6375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600" b="1">
                <a:solidFill>
                  <a:srgbClr val="1E21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조합원</a:t>
            </a:r>
            <a:r>
              <a:rPr lang="en-US" altLang="ko-KR" sz="2600" b="1">
                <a:solidFill>
                  <a:srgbClr val="1E21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600" b="1">
                <a:solidFill>
                  <a:srgbClr val="1E21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모임방</a:t>
            </a:r>
            <a:r>
              <a:rPr lang="en-US" altLang="ko-KR" sz="2600" b="1">
                <a:solidFill>
                  <a:srgbClr val="1E21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600" b="1">
                <a:solidFill>
                  <a:srgbClr val="1E21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8D1603-31D1-46EF-9E93-A31F961FF8F6}"/>
              </a:ext>
            </a:extLst>
          </p:cNvPr>
          <p:cNvSpPr txBox="1"/>
          <p:nvPr/>
        </p:nvSpPr>
        <p:spPr>
          <a:xfrm>
            <a:off x="5207000" y="1625600"/>
            <a:ext cx="6375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허가받은 조합원만 글을 쓰는 카페형 소통 공간</a:t>
            </a:r>
            <a:r>
              <a:rPr lang="en-US" altLang="ko-KR" sz="15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500">
              <a:solidFill>
                <a:srgbClr val="464C5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EB07710-3195-4B2D-B54B-CCB77A779062}"/>
              </a:ext>
            </a:extLst>
          </p:cNvPr>
          <p:cNvSpPr/>
          <p:nvPr/>
        </p:nvSpPr>
        <p:spPr>
          <a:xfrm>
            <a:off x="5207000" y="2794000"/>
            <a:ext cx="6375400" cy="685800"/>
          </a:xfrm>
          <a:prstGeom prst="roundRect">
            <a:avLst>
              <a:gd name="adj" fmla="val 8000"/>
            </a:avLst>
          </a:prstGeom>
          <a:solidFill>
            <a:srgbClr val="E6F1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474FB7-95E0-42D0-B614-3AA6E2403A64}"/>
              </a:ext>
            </a:extLst>
          </p:cNvPr>
          <p:cNvSpPr txBox="1"/>
          <p:nvPr/>
        </p:nvSpPr>
        <p:spPr>
          <a:xfrm>
            <a:off x="5384800" y="2908300"/>
            <a:ext cx="6019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</a:t>
            </a:r>
            <a:r>
              <a:rPr lang="en-US" altLang="ko-KR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자료</a:t>
            </a:r>
            <a:r>
              <a:rPr lang="en-US" altLang="ko-KR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사진</a:t>
            </a:r>
            <a:r>
              <a:rPr lang="en-US" altLang="ko-KR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·PDF </a:t>
            </a:r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공유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B79199D-151B-4F7E-AAC4-71845DCE845C}"/>
              </a:ext>
            </a:extLst>
          </p:cNvPr>
          <p:cNvSpPr/>
          <p:nvPr/>
        </p:nvSpPr>
        <p:spPr>
          <a:xfrm>
            <a:off x="5207000" y="3606800"/>
            <a:ext cx="6375400" cy="685800"/>
          </a:xfrm>
          <a:prstGeom prst="roundRect">
            <a:avLst>
              <a:gd name="adj" fmla="val 8000"/>
            </a:avLst>
          </a:prstGeom>
          <a:solidFill>
            <a:srgbClr val="E6F1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7C1352-98FD-4FFD-8584-FF92233CBA7F}"/>
              </a:ext>
            </a:extLst>
          </p:cNvPr>
          <p:cNvSpPr txBox="1"/>
          <p:nvPr/>
        </p:nvSpPr>
        <p:spPr>
          <a:xfrm>
            <a:off x="5384800" y="3721100"/>
            <a:ext cx="6019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 b="1">
                <a:solidFill>
                  <a:srgbClr val="0843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모든 화면 「❓ 사용 방법」 단계 안내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E68AC3-95A8-4ADA-BD96-4CB0C6754722}"/>
              </a:ext>
            </a:extLst>
          </p:cNvPr>
          <p:cNvSpPr txBox="1"/>
          <p:nvPr/>
        </p:nvSpPr>
        <p:spPr>
          <a:xfrm>
            <a:off x="609600" y="65278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조합</a:t>
            </a:r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ONE · </a:t>
            </a:r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영업 시연 시나리오 대본 </a:t>
            </a:r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수치는 시연용 예시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A31895-E1A4-4BB0-8FE9-747BB849B579}"/>
              </a:ext>
            </a:extLst>
          </p:cNvPr>
          <p:cNvSpPr txBox="1"/>
          <p:nvPr/>
        </p:nvSpPr>
        <p:spPr>
          <a:xfrm>
            <a:off x="10820400" y="6527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14</a:t>
            </a:r>
            <a:endParaRPr lang="ko-KR" altLang="en-US" sz="900">
              <a:solidFill>
                <a:srgbClr val="5F6B7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4551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E74E54-D5F4-46F4-AB77-FE2E09B8EF8E}"/>
              </a:ext>
            </a:extLst>
          </p:cNvPr>
          <p:cNvSpPr txBox="1"/>
          <p:nvPr/>
        </p:nvSpPr>
        <p:spPr>
          <a:xfrm>
            <a:off x="609600" y="381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C2410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정리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8424A3F-B18A-4B7E-B5E8-271CDD85AD7D}"/>
              </a:ext>
            </a:extLst>
          </p:cNvPr>
          <p:cNvSpPr txBox="1"/>
          <p:nvPr/>
        </p:nvSpPr>
        <p:spPr>
          <a:xfrm>
            <a:off x="609600" y="635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800" b="1">
                <a:solidFill>
                  <a:srgbClr val="1E21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비용 절감과 원스톱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89381C1-5CB3-40E8-A2D1-5E0D6E8E2387}"/>
              </a:ext>
            </a:extLst>
          </p:cNvPr>
          <p:cNvSpPr/>
          <p:nvPr/>
        </p:nvSpPr>
        <p:spPr>
          <a:xfrm>
            <a:off x="609600" y="1422400"/>
            <a:ext cx="5080000" cy="1905000"/>
          </a:xfrm>
          <a:prstGeom prst="roundRect">
            <a:avLst>
              <a:gd name="adj" fmla="val 8000"/>
            </a:avLst>
          </a:prstGeom>
          <a:solidFill>
            <a:srgbClr val="FDEEE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C01BC0-5BFC-4104-8863-8F698CF1B08B}"/>
              </a:ext>
            </a:extLst>
          </p:cNvPr>
          <p:cNvSpPr txBox="1"/>
          <p:nvPr/>
        </p:nvSpPr>
        <p:spPr>
          <a:xfrm>
            <a:off x="889000" y="16256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 b="1">
                <a:solidFill>
                  <a:srgbClr val="8A2E0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조합원 </a:t>
            </a:r>
            <a:r>
              <a:rPr lang="en-US" altLang="ko-KR" sz="1300" b="1">
                <a:solidFill>
                  <a:srgbClr val="8A2E0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1,000</a:t>
            </a:r>
            <a:r>
              <a:rPr lang="ko-KR" altLang="en-US" sz="1300" b="1">
                <a:solidFill>
                  <a:srgbClr val="8A2E0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 </a:t>
            </a:r>
            <a:r>
              <a:rPr lang="en-US" altLang="ko-KR" sz="1300" b="1">
                <a:solidFill>
                  <a:srgbClr val="8A2E0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 b="1">
                <a:solidFill>
                  <a:srgbClr val="8A2E0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총회 </a:t>
            </a:r>
            <a:r>
              <a:rPr lang="en-US" altLang="ko-KR" sz="1300" b="1">
                <a:solidFill>
                  <a:srgbClr val="8A2E0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300" b="1">
                <a:solidFill>
                  <a:srgbClr val="8A2E0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 기준 </a:t>
            </a:r>
            <a:r>
              <a:rPr lang="en-US" altLang="ko-KR" sz="1300" b="1">
                <a:solidFill>
                  <a:srgbClr val="8A2E0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300" b="1">
                <a:solidFill>
                  <a:srgbClr val="8A2E0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예시 단가</a:t>
            </a:r>
            <a:r>
              <a:rPr lang="en-US" altLang="ko-KR" sz="1300" b="1">
                <a:solidFill>
                  <a:srgbClr val="8A2E0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300" b="1">
              <a:solidFill>
                <a:srgbClr val="8A2E0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6AD8C1-BED2-4B2D-B9C1-3F4D80EFB059}"/>
              </a:ext>
            </a:extLst>
          </p:cNvPr>
          <p:cNvSpPr txBox="1"/>
          <p:nvPr/>
        </p:nvSpPr>
        <p:spPr>
          <a:xfrm>
            <a:off x="889000" y="19558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4400" b="1">
                <a:solidFill>
                  <a:srgbClr val="C2410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 </a:t>
            </a:r>
            <a:r>
              <a:rPr lang="en-US" altLang="ko-KR" sz="4400" b="1">
                <a:solidFill>
                  <a:srgbClr val="C2410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6,236</a:t>
            </a:r>
            <a:r>
              <a:rPr lang="ko-KR" altLang="en-US" sz="4400" b="1">
                <a:solidFill>
                  <a:srgbClr val="C2410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만원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B88F61-E62B-4D6D-B0BB-12F734AD7363}"/>
              </a:ext>
            </a:extLst>
          </p:cNvPr>
          <p:cNvSpPr txBox="1"/>
          <p:nvPr/>
        </p:nvSpPr>
        <p:spPr>
          <a:xfrm>
            <a:off x="889000" y="2717800"/>
            <a:ext cx="4572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400">
                <a:solidFill>
                  <a:srgbClr val="8A2E0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총회 한 번에 아낄 수 있는 비용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45100F-65EA-4AB0-8FCA-570EC74920B2}"/>
              </a:ext>
            </a:extLst>
          </p:cNvPr>
          <p:cNvSpPr txBox="1"/>
          <p:nvPr/>
        </p:nvSpPr>
        <p:spPr>
          <a:xfrm>
            <a:off x="6096000" y="15240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4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등기우편 발송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9AEB04-A588-412D-89DF-17C4E90A0319}"/>
              </a:ext>
            </a:extLst>
          </p:cNvPr>
          <p:cNvSpPr txBox="1"/>
          <p:nvPr/>
        </p:nvSpPr>
        <p:spPr>
          <a:xfrm>
            <a:off x="8280400" y="1524000"/>
            <a:ext cx="30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4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C6DC0C-1361-4CAD-94D5-F281E003E423}"/>
              </a:ext>
            </a:extLst>
          </p:cNvPr>
          <p:cNvSpPr txBox="1"/>
          <p:nvPr/>
        </p:nvSpPr>
        <p:spPr>
          <a:xfrm>
            <a:off x="8686800" y="15240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400" b="1">
                <a:solidFill>
                  <a:srgbClr val="0B556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알림톡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1CA631-A7F4-46EF-B576-E7634FFB771C}"/>
              </a:ext>
            </a:extLst>
          </p:cNvPr>
          <p:cNvCxnSpPr/>
          <p:nvPr/>
        </p:nvCxnSpPr>
        <p:spPr>
          <a:xfrm>
            <a:off x="6096000" y="1879600"/>
            <a:ext cx="5486400" cy="0"/>
          </a:xfrm>
          <a:prstGeom prst="line">
            <a:avLst/>
          </a:prstGeom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3897663-63F6-4953-9BE9-3FBA4B6661DF}"/>
              </a:ext>
            </a:extLst>
          </p:cNvPr>
          <p:cNvSpPr txBox="1"/>
          <p:nvPr/>
        </p:nvSpPr>
        <p:spPr>
          <a:xfrm>
            <a:off x="6096000" y="20066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4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서면결의서 징구 인력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299469-37D0-4908-9FF4-C778D63735E0}"/>
              </a:ext>
            </a:extLst>
          </p:cNvPr>
          <p:cNvSpPr txBox="1"/>
          <p:nvPr/>
        </p:nvSpPr>
        <p:spPr>
          <a:xfrm>
            <a:off x="8280400" y="2006600"/>
            <a:ext cx="30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4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4FDD5B-1CE3-4D39-8068-798E73EDA468}"/>
              </a:ext>
            </a:extLst>
          </p:cNvPr>
          <p:cNvSpPr txBox="1"/>
          <p:nvPr/>
        </p:nvSpPr>
        <p:spPr>
          <a:xfrm>
            <a:off x="8686800" y="20066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400" b="1">
                <a:solidFill>
                  <a:srgbClr val="0B556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전자투표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43CF940-63F3-4177-B9A8-1CE758A5C526}"/>
              </a:ext>
            </a:extLst>
          </p:cNvPr>
          <p:cNvCxnSpPr/>
          <p:nvPr/>
        </p:nvCxnSpPr>
        <p:spPr>
          <a:xfrm>
            <a:off x="6096000" y="2362200"/>
            <a:ext cx="5486400" cy="0"/>
          </a:xfrm>
          <a:prstGeom prst="line">
            <a:avLst/>
          </a:prstGeom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977623C-7B62-441C-B153-6E15C8E4E0B7}"/>
              </a:ext>
            </a:extLst>
          </p:cNvPr>
          <p:cNvSpPr txBox="1"/>
          <p:nvPr/>
        </p:nvSpPr>
        <p:spPr>
          <a:xfrm>
            <a:off x="6096000" y="24892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4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동의서 방문 회수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CE1F03-DBA5-41E1-9950-9EBD8501FE21}"/>
              </a:ext>
            </a:extLst>
          </p:cNvPr>
          <p:cNvSpPr txBox="1"/>
          <p:nvPr/>
        </p:nvSpPr>
        <p:spPr>
          <a:xfrm>
            <a:off x="8280400" y="2489200"/>
            <a:ext cx="30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4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6D3E10-151A-430E-B2C5-A90EA8BDD201}"/>
              </a:ext>
            </a:extLst>
          </p:cNvPr>
          <p:cNvSpPr txBox="1"/>
          <p:nvPr/>
        </p:nvSpPr>
        <p:spPr>
          <a:xfrm>
            <a:off x="8686800" y="24892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400" b="1">
                <a:solidFill>
                  <a:srgbClr val="0B556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전자동의서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4D2B266-9C72-4ABC-AC02-D7ECBB730D49}"/>
              </a:ext>
            </a:extLst>
          </p:cNvPr>
          <p:cNvCxnSpPr/>
          <p:nvPr/>
        </p:nvCxnSpPr>
        <p:spPr>
          <a:xfrm>
            <a:off x="6096000" y="2844800"/>
            <a:ext cx="5486400" cy="0"/>
          </a:xfrm>
          <a:prstGeom prst="line">
            <a:avLst/>
          </a:prstGeom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67A9601-C742-4FC0-A93E-648A066C9372}"/>
              </a:ext>
            </a:extLst>
          </p:cNvPr>
          <p:cNvSpPr txBox="1"/>
          <p:nvPr/>
        </p:nvSpPr>
        <p:spPr>
          <a:xfrm>
            <a:off x="6096000" y="29718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4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총회장 대관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A91E26-1972-4379-B90F-07BF30A44774}"/>
              </a:ext>
            </a:extLst>
          </p:cNvPr>
          <p:cNvSpPr txBox="1"/>
          <p:nvPr/>
        </p:nvSpPr>
        <p:spPr>
          <a:xfrm>
            <a:off x="8280400" y="2971800"/>
            <a:ext cx="30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4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961400-7389-4A88-BA64-FC104E1CB24F}"/>
              </a:ext>
            </a:extLst>
          </p:cNvPr>
          <p:cNvSpPr txBox="1"/>
          <p:nvPr/>
        </p:nvSpPr>
        <p:spPr>
          <a:xfrm>
            <a:off x="8686800" y="29718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400" b="1">
                <a:solidFill>
                  <a:srgbClr val="0B556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온라인총회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A605D300-61E0-4FCA-9CC4-27CE8D5636C0}"/>
              </a:ext>
            </a:extLst>
          </p:cNvPr>
          <p:cNvCxnSpPr/>
          <p:nvPr/>
        </p:nvCxnSpPr>
        <p:spPr>
          <a:xfrm>
            <a:off x="6096000" y="3327400"/>
            <a:ext cx="5486400" cy="0"/>
          </a:xfrm>
          <a:prstGeom prst="line">
            <a:avLst/>
          </a:prstGeom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E981B4C2-C9BE-46A4-AAD4-F3879F2FEF37}"/>
              </a:ext>
            </a:extLst>
          </p:cNvPr>
          <p:cNvSpPr/>
          <p:nvPr/>
        </p:nvSpPr>
        <p:spPr>
          <a:xfrm>
            <a:off x="609600" y="3810000"/>
            <a:ext cx="3556000" cy="1905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0870C5-8ECB-444A-A818-2CD7D92D6C1B}"/>
              </a:ext>
            </a:extLst>
          </p:cNvPr>
          <p:cNvSpPr txBox="1"/>
          <p:nvPr/>
        </p:nvSpPr>
        <p:spPr>
          <a:xfrm>
            <a:off x="838200" y="4038600"/>
            <a:ext cx="309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 b="1">
                <a:solidFill>
                  <a:srgbClr val="0B556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</a:t>
            </a:r>
            <a:r>
              <a:rPr lang="en-US" altLang="ko-KR" sz="1700" b="1">
                <a:solidFill>
                  <a:srgbClr val="0B556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700" b="1">
                <a:solidFill>
                  <a:srgbClr val="0B556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구청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3159B1B-4557-4791-AB6B-83B11026532A}"/>
              </a:ext>
            </a:extLst>
          </p:cNvPr>
          <p:cNvSpPr txBox="1"/>
          <p:nvPr/>
        </p:nvSpPr>
        <p:spPr>
          <a:xfrm>
            <a:off x="838200" y="4445000"/>
            <a:ext cx="309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서버 이용료만 부담 </a:t>
            </a:r>
            <a:r>
              <a:rPr lang="en-US" altLang="ko-KR" sz="13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관할 조합</a:t>
            </a:r>
            <a:br>
              <a:rPr lang="ko-KR" altLang="en-US" sz="13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3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점검을 한 시스템에서 </a:t>
            </a:r>
            <a:r>
              <a:rPr lang="en-US" altLang="ko-KR" sz="13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3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공무원 전용</a:t>
            </a:r>
            <a:br>
              <a:rPr lang="ko-KR" altLang="en-US" sz="13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3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계정</a:t>
            </a:r>
            <a:r>
              <a:rPr lang="en-US" altLang="ko-KR" sz="13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300">
              <a:solidFill>
                <a:srgbClr val="464C5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4CB52A1A-992F-4226-81CE-E8041B5D1D67}"/>
              </a:ext>
            </a:extLst>
          </p:cNvPr>
          <p:cNvSpPr/>
          <p:nvPr/>
        </p:nvSpPr>
        <p:spPr>
          <a:xfrm>
            <a:off x="4368800" y="3810000"/>
            <a:ext cx="3556000" cy="1905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A42D56-DE27-484E-AC51-303910303FF2}"/>
              </a:ext>
            </a:extLst>
          </p:cNvPr>
          <p:cNvSpPr txBox="1"/>
          <p:nvPr/>
        </p:nvSpPr>
        <p:spPr>
          <a:xfrm>
            <a:off x="4597400" y="4038600"/>
            <a:ext cx="309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 b="1">
                <a:solidFill>
                  <a:srgbClr val="0B556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82C99D-8EE2-499A-B370-079D172E6079}"/>
              </a:ext>
            </a:extLst>
          </p:cNvPr>
          <p:cNvSpPr txBox="1"/>
          <p:nvPr/>
        </p:nvSpPr>
        <p:spPr>
          <a:xfrm>
            <a:off x="4597400" y="4445000"/>
            <a:ext cx="309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구독 없음 </a:t>
            </a:r>
            <a:r>
              <a:rPr lang="en-US" altLang="ko-KR" sz="13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필요한 유료 카테고리만</a:t>
            </a:r>
            <a:br>
              <a:rPr lang="ko-KR" altLang="en-US" sz="13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3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건별 이용 </a:t>
            </a:r>
            <a:r>
              <a:rPr lang="en-US" altLang="ko-KR" sz="13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3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동의서</a:t>
            </a:r>
            <a:r>
              <a:rPr lang="en-US" altLang="ko-KR" sz="13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총회</a:t>
            </a:r>
            <a:r>
              <a:rPr lang="en-US" altLang="ko-KR" sz="13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명부</a:t>
            </a:r>
            <a:r>
              <a:rPr lang="en-US" altLang="ko-KR" sz="13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알림톡</a:t>
            </a:r>
            <a:r>
              <a:rPr lang="en-US" altLang="ko-KR" sz="13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300">
              <a:solidFill>
                <a:srgbClr val="464C5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0A4A29BE-4170-448B-B082-9563CABA7737}"/>
              </a:ext>
            </a:extLst>
          </p:cNvPr>
          <p:cNvSpPr/>
          <p:nvPr/>
        </p:nvSpPr>
        <p:spPr>
          <a:xfrm>
            <a:off x="8128000" y="3810000"/>
            <a:ext cx="3556000" cy="1905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CFCB3F8-4280-4172-83EF-19B670449880}"/>
              </a:ext>
            </a:extLst>
          </p:cNvPr>
          <p:cNvSpPr txBox="1"/>
          <p:nvPr/>
        </p:nvSpPr>
        <p:spPr>
          <a:xfrm>
            <a:off x="8356600" y="4038600"/>
            <a:ext cx="309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 b="1">
                <a:solidFill>
                  <a:srgbClr val="0B556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조합원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DD63D3F-18FB-494F-BD8E-FE6CD39BF053}"/>
              </a:ext>
            </a:extLst>
          </p:cNvPr>
          <p:cNvSpPr txBox="1"/>
          <p:nvPr/>
        </p:nvSpPr>
        <p:spPr>
          <a:xfrm>
            <a:off x="8356600" y="4445000"/>
            <a:ext cx="309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휴대폰으로 동의</a:t>
            </a:r>
            <a:r>
              <a:rPr lang="en-US" altLang="ko-KR" sz="13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투표</a:t>
            </a:r>
            <a:r>
              <a:rPr lang="en-US" altLang="ko-KR" sz="13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총회 참석 </a:t>
            </a:r>
            <a:r>
              <a:rPr lang="en-US" altLang="ko-KR" sz="13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큰</a:t>
            </a:r>
            <a:br>
              <a:rPr lang="ko-KR" altLang="en-US" sz="13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300">
                <a:solidFill>
                  <a:srgbClr val="464C5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글씨와 단계별 사용 안내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AC1EDD-BC29-49A1-9E8D-C156C74A528E}"/>
              </a:ext>
            </a:extLst>
          </p:cNvPr>
          <p:cNvSpPr txBox="1"/>
          <p:nvPr/>
        </p:nvSpPr>
        <p:spPr>
          <a:xfrm>
            <a:off x="609600" y="59436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조합별 맞춤 절감 리포트</a:t>
            </a:r>
            <a:r>
              <a:rPr lang="en-US" altLang="ko-KR" sz="12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report.html (</a:t>
            </a:r>
            <a:r>
              <a:rPr lang="ko-KR" altLang="en-US" sz="12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조합원 수</a:t>
            </a:r>
            <a:r>
              <a:rPr lang="en-US" altLang="ko-KR" sz="12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총회 횟수 입력 → </a:t>
            </a:r>
            <a:r>
              <a:rPr lang="en-US" altLang="ko-KR" sz="12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A4 </a:t>
            </a:r>
            <a:r>
              <a:rPr lang="ko-KR" altLang="en-US" sz="12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리포트</a:t>
            </a:r>
            <a:r>
              <a:rPr lang="en-US" altLang="ko-KR" sz="12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200">
              <a:solidFill>
                <a:srgbClr val="5F6B7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F7040F6-4384-4667-B4A2-E06EC9D00825}"/>
              </a:ext>
            </a:extLst>
          </p:cNvPr>
          <p:cNvSpPr txBox="1"/>
          <p:nvPr/>
        </p:nvSpPr>
        <p:spPr>
          <a:xfrm>
            <a:off x="609600" y="65278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조합</a:t>
            </a:r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ONE · </a:t>
            </a:r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영업 시연 시나리오 대본 </a:t>
            </a:r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수치는 시연용 예시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17F70C4-4559-4B0D-A2D7-ED70D0618AE1}"/>
              </a:ext>
            </a:extLst>
          </p:cNvPr>
          <p:cNvSpPr txBox="1"/>
          <p:nvPr/>
        </p:nvSpPr>
        <p:spPr>
          <a:xfrm>
            <a:off x="10820400" y="6527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900">
                <a:solidFill>
                  <a:srgbClr val="5F6B7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endParaRPr lang="ko-KR" altLang="en-US" sz="900">
              <a:solidFill>
                <a:srgbClr val="5F6B7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3692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1694</Words>
  <Application>Microsoft Office PowerPoint</Application>
  <PresentationFormat>사용자 지정</PresentationFormat>
  <Paragraphs>210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엠케이이앤씨</dc:creator>
  <cp:lastModifiedBy>엠케이이앤씨</cp:lastModifiedBy>
  <cp:revision>1</cp:revision>
  <dcterms:created xsi:type="dcterms:W3CDTF">2026-10-29T09:14:06Z</dcterms:created>
  <dcterms:modified xsi:type="dcterms:W3CDTF">2026-10-29T09:14:06Z</dcterms:modified>
</cp:coreProperties>
</file>